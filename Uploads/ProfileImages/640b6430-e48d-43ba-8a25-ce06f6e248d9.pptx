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3" name="Text 0"/>
          <p:cNvSpPr/>
          <p:nvPr/>
        </p:nvSpPr>
        <p:spPr>
          <a:xfrm>
            <a:off x="485775" y="1053843"/>
            <a:ext cx="5229225" cy="1320115"/>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237E"/>
                </a:solidFill>
              </a:rPr>
              <a:t>URL Tabanlı Phishing Tespiti için Yapay Zeka Yaklaşımı</a:t>
            </a:r>
            <a:endParaRPr lang="en-US" sz="2862" dirty="0"/>
          </a:p>
        </p:txBody>
      </p:sp>
      <p:sp>
        <p:nvSpPr>
          <p:cNvPr id="4" name="Text 1"/>
          <p:cNvSpPr/>
          <p:nvPr/>
        </p:nvSpPr>
        <p:spPr>
          <a:xfrm>
            <a:off x="485775" y="2631132"/>
            <a:ext cx="4706280" cy="701873"/>
          </a:xfrm>
          <a:prstGeom prst="rect">
            <a:avLst/>
          </a:prstGeom>
          <a:noFill/>
          <a:ln/>
        </p:spPr>
        <p:txBody>
          <a:bodyPr wrap="square" lIns="0" tIns="0" rIns="0" bIns="0" rtlCol="0" anchor="t">
            <a:spAutoFit/>
          </a:bodyPr>
          <a:lstStyle/>
          <a:p>
            <a:pPr algn="l" indent="0" marL="0">
              <a:lnSpc>
                <a:spcPts val="1600"/>
              </a:lnSpc>
              <a:buNone/>
            </a:pPr>
            <a:r>
              <a:rPr lang="en-US" sz="1269" dirty="0">
                <a:solidFill>
                  <a:srgbClr val="333333"/>
                </a:solidFill>
              </a:rPr>
              <a:t>AI-Based Phishing And Malicious URL Detector And Classifier Using Machine Learning Techniques Implemented As A Chrome Extension</a:t>
            </a:r>
            <a:endParaRPr lang="en-US" sz="1269" dirty="0"/>
          </a:p>
        </p:txBody>
      </p:sp>
      <p:sp>
        <p:nvSpPr>
          <p:cNvPr id="5" name="Text 2"/>
          <p:cNvSpPr/>
          <p:nvPr/>
        </p:nvSpPr>
        <p:spPr>
          <a:xfrm>
            <a:off x="485775" y="3590181"/>
            <a:ext cx="2571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5722"/>
                </a:solidFill>
              </a:rPr>
              <a:t>Sunanlar</a:t>
            </a:r>
            <a:endParaRPr lang="en-US" sz="683" dirty="0"/>
          </a:p>
        </p:txBody>
      </p:sp>
      <p:sp>
        <p:nvSpPr>
          <p:cNvPr id="6" name="Text 3"/>
          <p:cNvSpPr/>
          <p:nvPr/>
        </p:nvSpPr>
        <p:spPr>
          <a:xfrm>
            <a:off x="485775" y="3761631"/>
            <a:ext cx="175638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0000"/>
                </a:solidFill>
              </a:rPr>
              <a:t>Farah ELSİLK &amp; Elif ÖZÇELİK</a:t>
            </a:r>
            <a:endParaRPr lang="en-US" sz="885" dirty="0"/>
          </a:p>
        </p:txBody>
      </p:sp>
      <p:sp>
        <p:nvSpPr>
          <p:cNvPr id="7" name="Text 4"/>
          <p:cNvSpPr/>
          <p:nvPr/>
        </p:nvSpPr>
        <p:spPr>
          <a:xfrm>
            <a:off x="3143250" y="3590181"/>
            <a:ext cx="2571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5722"/>
                </a:solidFill>
              </a:rPr>
              <a:t>Danışman</a:t>
            </a:r>
            <a:endParaRPr lang="en-US" sz="683" dirty="0"/>
          </a:p>
        </p:txBody>
      </p:sp>
      <p:sp>
        <p:nvSpPr>
          <p:cNvPr id="8" name="Text 5"/>
          <p:cNvSpPr/>
          <p:nvPr/>
        </p:nvSpPr>
        <p:spPr>
          <a:xfrm>
            <a:off x="3143250" y="3761631"/>
            <a:ext cx="1280238"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0000"/>
                </a:solidFill>
              </a:rPr>
              <a:t>Murat OSMANOĞLU</a:t>
            </a:r>
            <a:endParaRPr lang="en-US" sz="885" dirty="0"/>
          </a:p>
        </p:txBody>
      </p:sp>
      <p:sp>
        <p:nvSpPr>
          <p:cNvPr id="9" name="Text 6"/>
          <p:cNvSpPr/>
          <p:nvPr/>
        </p:nvSpPr>
        <p:spPr>
          <a:xfrm>
            <a:off x="485775" y="4022378"/>
            <a:ext cx="2571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5722"/>
                </a:solidFill>
              </a:rPr>
              <a:t>Tarih</a:t>
            </a:r>
            <a:endParaRPr lang="en-US" sz="683" dirty="0"/>
          </a:p>
        </p:txBody>
      </p:sp>
      <p:sp>
        <p:nvSpPr>
          <p:cNvPr id="10" name="Text 7"/>
          <p:cNvSpPr/>
          <p:nvPr/>
        </p:nvSpPr>
        <p:spPr>
          <a:xfrm>
            <a:off x="485775" y="4193828"/>
            <a:ext cx="83403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0000"/>
                </a:solidFill>
              </a:rPr>
              <a:t>15 Ocak 2026</a:t>
            </a:r>
            <a:endParaRPr lang="en-US" sz="885" dirty="0"/>
          </a:p>
        </p:txBody>
      </p:sp>
      <p:sp>
        <p:nvSpPr>
          <p:cNvPr id="11" name="Shape 8"/>
          <p:cNvSpPr/>
          <p:nvPr/>
        </p:nvSpPr>
        <p:spPr>
          <a:xfrm>
            <a:off x="5715000" y="57150"/>
            <a:ext cx="3486150" cy="5143500"/>
          </a:xfrm>
          <a:prstGeom prst="rect">
            <a:avLst/>
          </a:prstGeom>
          <a:solidFill>
            <a:srgbClr val="1A237E"/>
          </a:solidFill>
          <a:ln/>
        </p:spPr>
      </p:sp>
      <p:pic>
        <p:nvPicPr>
          <p:cNvPr id="12" name="Image 1" descr="preencoded.png">    </p:cNvPr>
          <p:cNvPicPr>
            <a:picLocks noChangeAspect="1"/>
          </p:cNvPicPr>
          <p:nvPr/>
        </p:nvPicPr>
        <p:blipFill>
          <a:blip r:embed="rId2"/>
          <a:stretch>
            <a:fillRect/>
          </a:stretch>
        </p:blipFill>
        <p:spPr>
          <a:xfrm>
            <a:off x="6063621" y="777246"/>
            <a:ext cx="2788909" cy="37033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0458450"/>
          </a:xfrm>
          <a:prstGeom prst="rect">
            <a:avLst/>
          </a:prstGeom>
        </p:spPr>
      </p:pic>
      <p:sp>
        <p:nvSpPr>
          <p:cNvPr id="3" name="Shape 0"/>
          <p:cNvSpPr/>
          <p:nvPr/>
        </p:nvSpPr>
        <p:spPr>
          <a:xfrm>
            <a:off x="0" y="0"/>
            <a:ext cx="9144000" cy="5143500"/>
          </a:xfrm>
          <a:prstGeom prst="rect">
            <a:avLst/>
          </a:prstGeom>
          <a:solidFill>
            <a:srgbClr val="FFFFFF"/>
          </a:solidFill>
          <a:ln/>
        </p:spPr>
      </p:sp>
      <p:sp>
        <p:nvSpPr>
          <p:cNvPr id="4" name="Text 1"/>
          <p:cNvSpPr/>
          <p:nvPr/>
        </p:nvSpPr>
        <p:spPr>
          <a:xfrm>
            <a:off x="428625" y="485775"/>
            <a:ext cx="8715375" cy="450056"/>
          </a:xfrm>
          <a:prstGeom prst="rect">
            <a:avLst/>
          </a:prstGeom>
          <a:noFill/>
          <a:ln/>
        </p:spPr>
        <p:txBody>
          <a:bodyPr wrap="none" lIns="0" tIns="0" rIns="0" bIns="0" rtlCol="0" anchor="t">
            <a:spAutoFit/>
          </a:bodyPr>
          <a:lstStyle/>
          <a:p>
            <a:pPr algn="l" indent="0" marL="0">
              <a:lnSpc>
                <a:spcPts val="3500"/>
              </a:lnSpc>
              <a:buNone/>
            </a:pPr>
            <a:r>
              <a:rPr lang="en-US" sz="2256" dirty="0">
                <a:solidFill>
                  <a:srgbClr val="1A237E"/>
                </a:solidFill>
              </a:rPr>
              <a:t>İçindekiler</a:t>
            </a:r>
            <a:endParaRPr lang="en-US" sz="2256" dirty="0"/>
          </a:p>
        </p:txBody>
      </p:sp>
      <p:sp>
        <p:nvSpPr>
          <p:cNvPr id="5" name="Text 2"/>
          <p:cNvSpPr/>
          <p:nvPr/>
        </p:nvSpPr>
        <p:spPr>
          <a:xfrm>
            <a:off x="428625" y="1078706"/>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01</a:t>
            </a:r>
            <a:endParaRPr lang="en-US" sz="987" dirty="0"/>
          </a:p>
        </p:txBody>
      </p:sp>
      <p:sp>
        <p:nvSpPr>
          <p:cNvPr id="6" name="Text 3"/>
          <p:cNvSpPr/>
          <p:nvPr/>
        </p:nvSpPr>
        <p:spPr>
          <a:xfrm>
            <a:off x="714375" y="1113002"/>
            <a:ext cx="947775"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Problem Tanımı</a:t>
            </a:r>
            <a:endParaRPr lang="en-US" sz="834" dirty="0"/>
          </a:p>
        </p:txBody>
      </p:sp>
      <p:sp>
        <p:nvSpPr>
          <p:cNvPr id="7" name="Text 4"/>
          <p:cNvSpPr/>
          <p:nvPr/>
        </p:nvSpPr>
        <p:spPr>
          <a:xfrm>
            <a:off x="4786313" y="1078706"/>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02</a:t>
            </a:r>
            <a:endParaRPr lang="en-US" sz="987" dirty="0"/>
          </a:p>
        </p:txBody>
      </p:sp>
      <p:sp>
        <p:nvSpPr>
          <p:cNvPr id="8" name="Text 5"/>
          <p:cNvSpPr/>
          <p:nvPr/>
        </p:nvSpPr>
        <p:spPr>
          <a:xfrm>
            <a:off x="5072063" y="1113002"/>
            <a:ext cx="1125448"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Literatür Taraması</a:t>
            </a:r>
            <a:endParaRPr lang="en-US" sz="834" dirty="0"/>
          </a:p>
        </p:txBody>
      </p:sp>
      <p:sp>
        <p:nvSpPr>
          <p:cNvPr id="9" name="Text 6"/>
          <p:cNvSpPr/>
          <p:nvPr/>
        </p:nvSpPr>
        <p:spPr>
          <a:xfrm>
            <a:off x="428625" y="1443038"/>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03</a:t>
            </a:r>
            <a:endParaRPr lang="en-US" sz="987" dirty="0"/>
          </a:p>
        </p:txBody>
      </p:sp>
      <p:sp>
        <p:nvSpPr>
          <p:cNvPr id="10" name="Text 7"/>
          <p:cNvSpPr/>
          <p:nvPr/>
        </p:nvSpPr>
        <p:spPr>
          <a:xfrm>
            <a:off x="714375" y="1477333"/>
            <a:ext cx="3296980"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Veri Seti Oluşturma: Güncel ve Dengeli Veri Kaynakları</a:t>
            </a:r>
            <a:endParaRPr lang="en-US" sz="834" dirty="0"/>
          </a:p>
        </p:txBody>
      </p:sp>
      <p:sp>
        <p:nvSpPr>
          <p:cNvPr id="11" name="Text 8"/>
          <p:cNvSpPr/>
          <p:nvPr/>
        </p:nvSpPr>
        <p:spPr>
          <a:xfrm>
            <a:off x="4786313" y="1443038"/>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04</a:t>
            </a:r>
            <a:endParaRPr lang="en-US" sz="987" dirty="0"/>
          </a:p>
        </p:txBody>
      </p:sp>
      <p:sp>
        <p:nvSpPr>
          <p:cNvPr id="12" name="Text 9"/>
          <p:cNvSpPr/>
          <p:nvPr/>
        </p:nvSpPr>
        <p:spPr>
          <a:xfrm>
            <a:off x="5072063" y="1477333"/>
            <a:ext cx="3592692"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İki Katmanlı Path Uzatma Yöntemi ile Gerçekçi Veri Üretimi</a:t>
            </a:r>
            <a:endParaRPr lang="en-US" sz="834" dirty="0"/>
          </a:p>
        </p:txBody>
      </p:sp>
      <p:sp>
        <p:nvSpPr>
          <p:cNvPr id="13" name="Text 10"/>
          <p:cNvSpPr/>
          <p:nvPr/>
        </p:nvSpPr>
        <p:spPr>
          <a:xfrm>
            <a:off x="428625" y="1807369"/>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05</a:t>
            </a:r>
            <a:endParaRPr lang="en-US" sz="987" dirty="0"/>
          </a:p>
        </p:txBody>
      </p:sp>
      <p:sp>
        <p:nvSpPr>
          <p:cNvPr id="14" name="Text 11"/>
          <p:cNvSpPr/>
          <p:nvPr/>
        </p:nvSpPr>
        <p:spPr>
          <a:xfrm>
            <a:off x="714375" y="1841664"/>
            <a:ext cx="1233636"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Özellik Mühendisliği</a:t>
            </a:r>
            <a:endParaRPr lang="en-US" sz="834" dirty="0"/>
          </a:p>
        </p:txBody>
      </p:sp>
      <p:sp>
        <p:nvSpPr>
          <p:cNvPr id="15" name="Text 12"/>
          <p:cNvSpPr/>
          <p:nvPr/>
        </p:nvSpPr>
        <p:spPr>
          <a:xfrm>
            <a:off x="4786313" y="1807369"/>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06</a:t>
            </a:r>
            <a:endParaRPr lang="en-US" sz="987" dirty="0"/>
          </a:p>
        </p:txBody>
      </p:sp>
      <p:sp>
        <p:nvSpPr>
          <p:cNvPr id="16" name="Text 13"/>
          <p:cNvSpPr/>
          <p:nvPr/>
        </p:nvSpPr>
        <p:spPr>
          <a:xfrm>
            <a:off x="5072063" y="1841664"/>
            <a:ext cx="2435935"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Makine Öğrenmesi Modelleri Hiyerarşisi</a:t>
            </a:r>
            <a:endParaRPr lang="en-US" sz="834" dirty="0"/>
          </a:p>
        </p:txBody>
      </p:sp>
      <p:sp>
        <p:nvSpPr>
          <p:cNvPr id="17" name="Text 14"/>
          <p:cNvSpPr/>
          <p:nvPr/>
        </p:nvSpPr>
        <p:spPr>
          <a:xfrm>
            <a:off x="428625" y="2171700"/>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07</a:t>
            </a:r>
            <a:endParaRPr lang="en-US" sz="987" dirty="0"/>
          </a:p>
        </p:txBody>
      </p:sp>
      <p:sp>
        <p:nvSpPr>
          <p:cNvPr id="18" name="Text 15"/>
          <p:cNvSpPr/>
          <p:nvPr/>
        </p:nvSpPr>
        <p:spPr>
          <a:xfrm>
            <a:off x="714375" y="2205996"/>
            <a:ext cx="2848598"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Özellik Gruplarının Model Performansına Etkisi</a:t>
            </a:r>
            <a:endParaRPr lang="en-US" sz="834" dirty="0"/>
          </a:p>
        </p:txBody>
      </p:sp>
      <p:sp>
        <p:nvSpPr>
          <p:cNvPr id="19" name="Text 16"/>
          <p:cNvSpPr/>
          <p:nvPr/>
        </p:nvSpPr>
        <p:spPr>
          <a:xfrm>
            <a:off x="4786313" y="2171700"/>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08</a:t>
            </a:r>
            <a:endParaRPr lang="en-US" sz="987" dirty="0"/>
          </a:p>
        </p:txBody>
      </p:sp>
      <p:sp>
        <p:nvSpPr>
          <p:cNvPr id="20" name="Text 17"/>
          <p:cNvSpPr/>
          <p:nvPr/>
        </p:nvSpPr>
        <p:spPr>
          <a:xfrm>
            <a:off x="5072063" y="2205996"/>
            <a:ext cx="1725969"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Cross Validation Uygulaması</a:t>
            </a:r>
            <a:endParaRPr lang="en-US" sz="834" dirty="0"/>
          </a:p>
        </p:txBody>
      </p:sp>
      <p:sp>
        <p:nvSpPr>
          <p:cNvPr id="21" name="Text 18"/>
          <p:cNvSpPr/>
          <p:nvPr/>
        </p:nvSpPr>
        <p:spPr>
          <a:xfrm>
            <a:off x="428625" y="2536031"/>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09</a:t>
            </a:r>
            <a:endParaRPr lang="en-US" sz="987" dirty="0"/>
          </a:p>
        </p:txBody>
      </p:sp>
      <p:sp>
        <p:nvSpPr>
          <p:cNvPr id="22" name="Text 19"/>
          <p:cNvSpPr/>
          <p:nvPr/>
        </p:nvSpPr>
        <p:spPr>
          <a:xfrm>
            <a:off x="714375" y="2570327"/>
            <a:ext cx="1730713"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Class Imbalance Uygulaması</a:t>
            </a:r>
            <a:endParaRPr lang="en-US" sz="834" dirty="0"/>
          </a:p>
        </p:txBody>
      </p:sp>
      <p:sp>
        <p:nvSpPr>
          <p:cNvPr id="23" name="Text 20"/>
          <p:cNvSpPr/>
          <p:nvPr/>
        </p:nvSpPr>
        <p:spPr>
          <a:xfrm>
            <a:off x="4786313" y="2536031"/>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10</a:t>
            </a:r>
            <a:endParaRPr lang="en-US" sz="987" dirty="0"/>
          </a:p>
        </p:txBody>
      </p:sp>
      <p:sp>
        <p:nvSpPr>
          <p:cNvPr id="24" name="Text 21"/>
          <p:cNvSpPr/>
          <p:nvPr/>
        </p:nvSpPr>
        <p:spPr>
          <a:xfrm>
            <a:off x="5072063" y="2570327"/>
            <a:ext cx="1230120"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TF-IDF İntegrasyonu</a:t>
            </a:r>
            <a:endParaRPr lang="en-US" sz="834" dirty="0"/>
          </a:p>
        </p:txBody>
      </p:sp>
      <p:sp>
        <p:nvSpPr>
          <p:cNvPr id="25" name="Text 22"/>
          <p:cNvSpPr/>
          <p:nvPr/>
        </p:nvSpPr>
        <p:spPr>
          <a:xfrm>
            <a:off x="428625" y="2900363"/>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11</a:t>
            </a:r>
            <a:endParaRPr lang="en-US" sz="987" dirty="0"/>
          </a:p>
        </p:txBody>
      </p:sp>
      <p:sp>
        <p:nvSpPr>
          <p:cNvPr id="26" name="Text 23"/>
          <p:cNvSpPr/>
          <p:nvPr/>
        </p:nvSpPr>
        <p:spPr>
          <a:xfrm>
            <a:off x="714375" y="2934658"/>
            <a:ext cx="3292850"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En İyi Performans Gösteren Modellerin Karşılaştırması</a:t>
            </a:r>
            <a:endParaRPr lang="en-US" sz="834" dirty="0"/>
          </a:p>
        </p:txBody>
      </p:sp>
      <p:sp>
        <p:nvSpPr>
          <p:cNvPr id="27" name="Text 24"/>
          <p:cNvSpPr/>
          <p:nvPr/>
        </p:nvSpPr>
        <p:spPr>
          <a:xfrm>
            <a:off x="4786313" y="2900363"/>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12</a:t>
            </a:r>
            <a:endParaRPr lang="en-US" sz="987" dirty="0"/>
          </a:p>
        </p:txBody>
      </p:sp>
      <p:sp>
        <p:nvSpPr>
          <p:cNvPr id="28" name="Text 25"/>
          <p:cNvSpPr/>
          <p:nvPr/>
        </p:nvSpPr>
        <p:spPr>
          <a:xfrm>
            <a:off x="5072063" y="2934658"/>
            <a:ext cx="2223883"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Gelecek Çalışmalar: Yol Haritası 2026</a:t>
            </a:r>
            <a:endParaRPr lang="en-US" sz="834" dirty="0"/>
          </a:p>
        </p:txBody>
      </p:sp>
      <p:sp>
        <p:nvSpPr>
          <p:cNvPr id="29" name="Text 26"/>
          <p:cNvSpPr/>
          <p:nvPr/>
        </p:nvSpPr>
        <p:spPr>
          <a:xfrm>
            <a:off x="428625" y="3264694"/>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13</a:t>
            </a:r>
            <a:endParaRPr lang="en-US" sz="987" dirty="0"/>
          </a:p>
        </p:txBody>
      </p:sp>
      <p:sp>
        <p:nvSpPr>
          <p:cNvPr id="30" name="Text 27"/>
          <p:cNvSpPr/>
          <p:nvPr/>
        </p:nvSpPr>
        <p:spPr>
          <a:xfrm>
            <a:off x="714375" y="3298989"/>
            <a:ext cx="617069"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Kaynaklar</a:t>
            </a:r>
            <a:endParaRPr lang="en-US" sz="834" dirty="0"/>
          </a:p>
        </p:txBody>
      </p:sp>
      <p:sp>
        <p:nvSpPr>
          <p:cNvPr id="31" name="Shape 28"/>
          <p:cNvSpPr/>
          <p:nvPr/>
        </p:nvSpPr>
        <p:spPr>
          <a:xfrm>
            <a:off x="0" y="5143500"/>
            <a:ext cx="9144000" cy="5143500"/>
          </a:xfrm>
          <a:prstGeom prst="rect">
            <a:avLst/>
          </a:prstGeom>
          <a:solidFill>
            <a:srgbClr val="FFFFFF"/>
          </a:solidFill>
          <a:ln/>
        </p:spPr>
      </p:sp>
      <p:sp>
        <p:nvSpPr>
          <p:cNvPr id="32" name="Text 29"/>
          <p:cNvSpPr/>
          <p:nvPr/>
        </p:nvSpPr>
        <p:spPr>
          <a:xfrm>
            <a:off x="428625" y="5629275"/>
            <a:ext cx="8715375" cy="450056"/>
          </a:xfrm>
          <a:prstGeom prst="rect">
            <a:avLst/>
          </a:prstGeom>
          <a:noFill/>
          <a:ln/>
        </p:spPr>
        <p:txBody>
          <a:bodyPr wrap="none" lIns="0" tIns="0" rIns="0" bIns="0" rtlCol="0" anchor="t">
            <a:spAutoFit/>
          </a:bodyPr>
          <a:lstStyle/>
          <a:p>
            <a:pPr algn="l" indent="0" marL="0">
              <a:lnSpc>
                <a:spcPts val="3500"/>
              </a:lnSpc>
              <a:buNone/>
            </a:pPr>
            <a:r>
              <a:rPr lang="en-US" sz="2256" dirty="0">
                <a:solidFill>
                  <a:srgbClr val="1A237E"/>
                </a:solidFill>
              </a:rPr>
              <a:t>İçindekiler</a:t>
            </a:r>
            <a:endParaRPr lang="en-US" sz="2256" dirty="0"/>
          </a:p>
        </p:txBody>
      </p:sp>
      <p:sp>
        <p:nvSpPr>
          <p:cNvPr id="33" name="Text 30"/>
          <p:cNvSpPr/>
          <p:nvPr/>
        </p:nvSpPr>
        <p:spPr>
          <a:xfrm>
            <a:off x="428625" y="6222206"/>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01</a:t>
            </a:r>
            <a:endParaRPr lang="en-US" sz="987" dirty="0"/>
          </a:p>
        </p:txBody>
      </p:sp>
      <p:sp>
        <p:nvSpPr>
          <p:cNvPr id="34" name="Text 31"/>
          <p:cNvSpPr/>
          <p:nvPr/>
        </p:nvSpPr>
        <p:spPr>
          <a:xfrm>
            <a:off x="714375" y="6256502"/>
            <a:ext cx="947775"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Problem Tanımı</a:t>
            </a:r>
            <a:endParaRPr lang="en-US" sz="834" dirty="0"/>
          </a:p>
        </p:txBody>
      </p:sp>
      <p:sp>
        <p:nvSpPr>
          <p:cNvPr id="35" name="Text 32"/>
          <p:cNvSpPr/>
          <p:nvPr/>
        </p:nvSpPr>
        <p:spPr>
          <a:xfrm>
            <a:off x="4786313" y="6222206"/>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02</a:t>
            </a:r>
            <a:endParaRPr lang="en-US" sz="987" dirty="0"/>
          </a:p>
        </p:txBody>
      </p:sp>
      <p:sp>
        <p:nvSpPr>
          <p:cNvPr id="36" name="Text 33"/>
          <p:cNvSpPr/>
          <p:nvPr/>
        </p:nvSpPr>
        <p:spPr>
          <a:xfrm>
            <a:off x="5072063" y="6256502"/>
            <a:ext cx="1125448"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Literatür Taraması</a:t>
            </a:r>
            <a:endParaRPr lang="en-US" sz="834" dirty="0"/>
          </a:p>
        </p:txBody>
      </p:sp>
      <p:sp>
        <p:nvSpPr>
          <p:cNvPr id="37" name="Text 34"/>
          <p:cNvSpPr/>
          <p:nvPr/>
        </p:nvSpPr>
        <p:spPr>
          <a:xfrm>
            <a:off x="428625" y="6586538"/>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03</a:t>
            </a:r>
            <a:endParaRPr lang="en-US" sz="987" dirty="0"/>
          </a:p>
        </p:txBody>
      </p:sp>
      <p:sp>
        <p:nvSpPr>
          <p:cNvPr id="38" name="Text 35"/>
          <p:cNvSpPr/>
          <p:nvPr/>
        </p:nvSpPr>
        <p:spPr>
          <a:xfrm>
            <a:off x="714375" y="6620833"/>
            <a:ext cx="3296980"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Veri Seti Oluşturma: Güncel ve Dengeli Veri Kaynakları</a:t>
            </a:r>
            <a:endParaRPr lang="en-US" sz="834" dirty="0"/>
          </a:p>
        </p:txBody>
      </p:sp>
      <p:sp>
        <p:nvSpPr>
          <p:cNvPr id="39" name="Text 36"/>
          <p:cNvSpPr/>
          <p:nvPr/>
        </p:nvSpPr>
        <p:spPr>
          <a:xfrm>
            <a:off x="4786313" y="6586538"/>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04</a:t>
            </a:r>
            <a:endParaRPr lang="en-US" sz="987" dirty="0"/>
          </a:p>
        </p:txBody>
      </p:sp>
      <p:sp>
        <p:nvSpPr>
          <p:cNvPr id="40" name="Text 37"/>
          <p:cNvSpPr/>
          <p:nvPr/>
        </p:nvSpPr>
        <p:spPr>
          <a:xfrm>
            <a:off x="5072063" y="6620833"/>
            <a:ext cx="3592692"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İki Katmanlı Path Uzatma Yöntemi ile Gerçekçi Veri Üretimi</a:t>
            </a:r>
            <a:endParaRPr lang="en-US" sz="834" dirty="0"/>
          </a:p>
        </p:txBody>
      </p:sp>
      <p:sp>
        <p:nvSpPr>
          <p:cNvPr id="41" name="Text 38"/>
          <p:cNvSpPr/>
          <p:nvPr/>
        </p:nvSpPr>
        <p:spPr>
          <a:xfrm>
            <a:off x="428625" y="6950869"/>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05</a:t>
            </a:r>
            <a:endParaRPr lang="en-US" sz="987" dirty="0"/>
          </a:p>
        </p:txBody>
      </p:sp>
      <p:sp>
        <p:nvSpPr>
          <p:cNvPr id="42" name="Text 39"/>
          <p:cNvSpPr/>
          <p:nvPr/>
        </p:nvSpPr>
        <p:spPr>
          <a:xfrm>
            <a:off x="714375" y="6985164"/>
            <a:ext cx="1233636"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Özellik Mühendisliği</a:t>
            </a:r>
            <a:endParaRPr lang="en-US" sz="834" dirty="0"/>
          </a:p>
        </p:txBody>
      </p:sp>
      <p:sp>
        <p:nvSpPr>
          <p:cNvPr id="43" name="Text 40"/>
          <p:cNvSpPr/>
          <p:nvPr/>
        </p:nvSpPr>
        <p:spPr>
          <a:xfrm>
            <a:off x="4786313" y="6950869"/>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06</a:t>
            </a:r>
            <a:endParaRPr lang="en-US" sz="987" dirty="0"/>
          </a:p>
        </p:txBody>
      </p:sp>
      <p:sp>
        <p:nvSpPr>
          <p:cNvPr id="44" name="Text 41"/>
          <p:cNvSpPr/>
          <p:nvPr/>
        </p:nvSpPr>
        <p:spPr>
          <a:xfrm>
            <a:off x="5072063" y="6985164"/>
            <a:ext cx="2435935"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Makine Öğrenmesi Modelleri Hiyerarşisi</a:t>
            </a:r>
            <a:endParaRPr lang="en-US" sz="834" dirty="0"/>
          </a:p>
        </p:txBody>
      </p:sp>
      <p:sp>
        <p:nvSpPr>
          <p:cNvPr id="45" name="Text 42"/>
          <p:cNvSpPr/>
          <p:nvPr/>
        </p:nvSpPr>
        <p:spPr>
          <a:xfrm>
            <a:off x="428625" y="7315200"/>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07</a:t>
            </a:r>
            <a:endParaRPr lang="en-US" sz="987" dirty="0"/>
          </a:p>
        </p:txBody>
      </p:sp>
      <p:sp>
        <p:nvSpPr>
          <p:cNvPr id="46" name="Text 43"/>
          <p:cNvSpPr/>
          <p:nvPr/>
        </p:nvSpPr>
        <p:spPr>
          <a:xfrm>
            <a:off x="714375" y="7349496"/>
            <a:ext cx="2848598"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Özellik Gruplarının Model Performansına Etkisi</a:t>
            </a:r>
            <a:endParaRPr lang="en-US" sz="834" dirty="0"/>
          </a:p>
        </p:txBody>
      </p:sp>
      <p:sp>
        <p:nvSpPr>
          <p:cNvPr id="47" name="Text 44"/>
          <p:cNvSpPr/>
          <p:nvPr/>
        </p:nvSpPr>
        <p:spPr>
          <a:xfrm>
            <a:off x="4786313" y="7315200"/>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08</a:t>
            </a:r>
            <a:endParaRPr lang="en-US" sz="987" dirty="0"/>
          </a:p>
        </p:txBody>
      </p:sp>
      <p:sp>
        <p:nvSpPr>
          <p:cNvPr id="48" name="Text 45"/>
          <p:cNvSpPr/>
          <p:nvPr/>
        </p:nvSpPr>
        <p:spPr>
          <a:xfrm>
            <a:off x="5072063" y="7349496"/>
            <a:ext cx="1725969"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Cross Validation Uygulaması</a:t>
            </a:r>
            <a:endParaRPr lang="en-US" sz="834" dirty="0"/>
          </a:p>
        </p:txBody>
      </p:sp>
      <p:sp>
        <p:nvSpPr>
          <p:cNvPr id="49" name="Text 46"/>
          <p:cNvSpPr/>
          <p:nvPr/>
        </p:nvSpPr>
        <p:spPr>
          <a:xfrm>
            <a:off x="428625" y="7679531"/>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09</a:t>
            </a:r>
            <a:endParaRPr lang="en-US" sz="987" dirty="0"/>
          </a:p>
        </p:txBody>
      </p:sp>
      <p:sp>
        <p:nvSpPr>
          <p:cNvPr id="50" name="Text 47"/>
          <p:cNvSpPr/>
          <p:nvPr/>
        </p:nvSpPr>
        <p:spPr>
          <a:xfrm>
            <a:off x="714375" y="7713827"/>
            <a:ext cx="1730713"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Class Imbalance Uygulaması</a:t>
            </a:r>
            <a:endParaRPr lang="en-US" sz="834" dirty="0"/>
          </a:p>
        </p:txBody>
      </p:sp>
      <p:sp>
        <p:nvSpPr>
          <p:cNvPr id="51" name="Text 48"/>
          <p:cNvSpPr/>
          <p:nvPr/>
        </p:nvSpPr>
        <p:spPr>
          <a:xfrm>
            <a:off x="4786313" y="7679531"/>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10</a:t>
            </a:r>
            <a:endParaRPr lang="en-US" sz="987" dirty="0"/>
          </a:p>
        </p:txBody>
      </p:sp>
      <p:sp>
        <p:nvSpPr>
          <p:cNvPr id="52" name="Text 49"/>
          <p:cNvSpPr/>
          <p:nvPr/>
        </p:nvSpPr>
        <p:spPr>
          <a:xfrm>
            <a:off x="5072063" y="7713827"/>
            <a:ext cx="1230120"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TF-IDF İntegrasyonu</a:t>
            </a:r>
            <a:endParaRPr lang="en-US" sz="834" dirty="0"/>
          </a:p>
        </p:txBody>
      </p:sp>
      <p:sp>
        <p:nvSpPr>
          <p:cNvPr id="53" name="Text 50"/>
          <p:cNvSpPr/>
          <p:nvPr/>
        </p:nvSpPr>
        <p:spPr>
          <a:xfrm>
            <a:off x="428625" y="8043863"/>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11</a:t>
            </a:r>
            <a:endParaRPr lang="en-US" sz="987" dirty="0"/>
          </a:p>
        </p:txBody>
      </p:sp>
      <p:sp>
        <p:nvSpPr>
          <p:cNvPr id="54" name="Text 51"/>
          <p:cNvSpPr/>
          <p:nvPr/>
        </p:nvSpPr>
        <p:spPr>
          <a:xfrm>
            <a:off x="714375" y="8078158"/>
            <a:ext cx="3292850"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En İyi Performans Gösteren Modellerin Karşılaştırması</a:t>
            </a:r>
            <a:endParaRPr lang="en-US" sz="834" dirty="0"/>
          </a:p>
        </p:txBody>
      </p:sp>
      <p:sp>
        <p:nvSpPr>
          <p:cNvPr id="55" name="Text 52"/>
          <p:cNvSpPr/>
          <p:nvPr/>
        </p:nvSpPr>
        <p:spPr>
          <a:xfrm>
            <a:off x="4786313" y="8043863"/>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12</a:t>
            </a:r>
            <a:endParaRPr lang="en-US" sz="987" dirty="0"/>
          </a:p>
        </p:txBody>
      </p:sp>
      <p:sp>
        <p:nvSpPr>
          <p:cNvPr id="56" name="Text 53"/>
          <p:cNvSpPr/>
          <p:nvPr/>
        </p:nvSpPr>
        <p:spPr>
          <a:xfrm>
            <a:off x="5072063" y="8078158"/>
            <a:ext cx="2223883"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Gelecek Çalışmalar: Yol Haritası 2026</a:t>
            </a:r>
            <a:endParaRPr lang="en-US" sz="834" dirty="0"/>
          </a:p>
        </p:txBody>
      </p:sp>
      <p:sp>
        <p:nvSpPr>
          <p:cNvPr id="57" name="Text 54"/>
          <p:cNvSpPr/>
          <p:nvPr/>
        </p:nvSpPr>
        <p:spPr>
          <a:xfrm>
            <a:off x="428625" y="8408194"/>
            <a:ext cx="285750"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FF5722"/>
                </a:solidFill>
              </a:rPr>
              <a:t>13</a:t>
            </a:r>
            <a:endParaRPr lang="en-US" sz="987" dirty="0"/>
          </a:p>
        </p:txBody>
      </p:sp>
      <p:sp>
        <p:nvSpPr>
          <p:cNvPr id="58" name="Text 55"/>
          <p:cNvSpPr/>
          <p:nvPr/>
        </p:nvSpPr>
        <p:spPr>
          <a:xfrm>
            <a:off x="714375" y="8442489"/>
            <a:ext cx="617069" cy="145721"/>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1A237E"/>
                </a:solidFill>
              </a:rPr>
              <a:t>Kaynaklar</a:t>
            </a:r>
            <a:endParaRPr lang="en-US" sz="834" dirty="0"/>
          </a:p>
        </p:txBody>
      </p:sp>
      <p:sp>
        <p:nvSpPr>
          <p:cNvPr id="59" name="Text 56"/>
          <p:cNvSpPr/>
          <p:nvPr/>
        </p:nvSpPr>
        <p:spPr>
          <a:xfrm>
            <a:off x="0" y="10294144"/>
            <a:ext cx="193970"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000000"/>
                </a:solidFill>
              </a:rPr>
              <a:t>dy&gt;</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3" name="Text 0"/>
          <p:cNvSpPr/>
          <p:nvPr/>
        </p:nvSpPr>
        <p:spPr>
          <a:xfrm>
            <a:off x="428625" y="727658"/>
            <a:ext cx="5092071" cy="990107"/>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URL Tabanlı Tehditler Siber Güvenliğin Kritik Bir Parçasıdır</a:t>
            </a:r>
            <a:endParaRPr lang="en-US" sz="2121" dirty="0"/>
          </a:p>
        </p:txBody>
      </p:sp>
      <p:sp>
        <p:nvSpPr>
          <p:cNvPr id="4" name="Text 1"/>
          <p:cNvSpPr/>
          <p:nvPr/>
        </p:nvSpPr>
        <p:spPr>
          <a:xfrm>
            <a:off x="428625" y="1860640"/>
            <a:ext cx="5092071" cy="1028588"/>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333333"/>
                </a:solidFill>
              </a:rPr>
              <a:t>URL yapısı, internet üzerindeki kaynaklara erişimi sağlayan temel adresleme mekanizması olması nedeniyle siber saldırıların birincil temas noktasını oluşturmaktadır. Geleneksel kara liste yöntemlerinin dinamik ve hızla değişen saldırılar karşısında yetersiz kalması, yapay zeka tabanlı gerçek zamanlı analiz çözümlerini zorunlu kılmaktadır.</a:t>
            </a:r>
            <a:endParaRPr lang="en-US" sz="942" dirty="0"/>
          </a:p>
        </p:txBody>
      </p:sp>
      <p:sp>
        <p:nvSpPr>
          <p:cNvPr id="5" name="Text 2"/>
          <p:cNvSpPr/>
          <p:nvPr/>
        </p:nvSpPr>
        <p:spPr>
          <a:xfrm>
            <a:off x="428625" y="3226966"/>
            <a:ext cx="2510303"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5722"/>
                </a:solidFill>
              </a:rPr>
              <a:t>Kısıtlar</a:t>
            </a:r>
            <a:endParaRPr lang="en-US" sz="784" dirty="0"/>
          </a:p>
        </p:txBody>
      </p:sp>
      <p:sp>
        <p:nvSpPr>
          <p:cNvPr id="6" name="Text 3"/>
          <p:cNvSpPr/>
          <p:nvPr/>
        </p:nvSpPr>
        <p:spPr>
          <a:xfrm>
            <a:off x="428625" y="3425205"/>
            <a:ext cx="1894294"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0000"/>
                </a:solidFill>
              </a:rPr>
              <a:t>Eski Veri Setleri &amp; Yüksek Maliyet</a:t>
            </a:r>
            <a:endParaRPr lang="en-US" sz="784" dirty="0"/>
          </a:p>
        </p:txBody>
      </p:sp>
      <p:sp>
        <p:nvSpPr>
          <p:cNvPr id="7" name="Text 4"/>
          <p:cNvSpPr/>
          <p:nvPr/>
        </p:nvSpPr>
        <p:spPr>
          <a:xfrm>
            <a:off x="3010365" y="3226966"/>
            <a:ext cx="251033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5722"/>
                </a:solidFill>
              </a:rPr>
              <a:t>Zorluk</a:t>
            </a:r>
            <a:endParaRPr lang="en-US" sz="784" dirty="0"/>
          </a:p>
        </p:txBody>
      </p:sp>
      <p:sp>
        <p:nvSpPr>
          <p:cNvPr id="8" name="Text 5"/>
          <p:cNvSpPr/>
          <p:nvPr/>
        </p:nvSpPr>
        <p:spPr>
          <a:xfrm>
            <a:off x="3010365" y="3425205"/>
            <a:ext cx="146843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0000"/>
                </a:solidFill>
              </a:rPr>
              <a:t>Dinamik Saldırı Teknikleri</a:t>
            </a:r>
            <a:endParaRPr lang="en-US" sz="784" dirty="0"/>
          </a:p>
        </p:txBody>
      </p:sp>
      <p:sp>
        <p:nvSpPr>
          <p:cNvPr id="9" name="Text 6"/>
          <p:cNvSpPr/>
          <p:nvPr/>
        </p:nvSpPr>
        <p:spPr>
          <a:xfrm>
            <a:off x="428625" y="3889744"/>
            <a:ext cx="2510303"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5722"/>
                </a:solidFill>
              </a:rPr>
              <a:t>İhtiyaç</a:t>
            </a:r>
            <a:endParaRPr lang="en-US" sz="784" dirty="0"/>
          </a:p>
        </p:txBody>
      </p:sp>
      <p:sp>
        <p:nvSpPr>
          <p:cNvPr id="10" name="Text 7"/>
          <p:cNvSpPr/>
          <p:nvPr/>
        </p:nvSpPr>
        <p:spPr>
          <a:xfrm>
            <a:off x="428625" y="4087983"/>
            <a:ext cx="1266341"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0000"/>
                </a:solidFill>
              </a:rPr>
              <a:t>Gerçek Zamanlı Analiz</a:t>
            </a:r>
            <a:endParaRPr lang="en-US" sz="784" dirty="0"/>
          </a:p>
        </p:txBody>
      </p:sp>
      <p:sp>
        <p:nvSpPr>
          <p:cNvPr id="11" name="Text 8"/>
          <p:cNvSpPr/>
          <p:nvPr/>
        </p:nvSpPr>
        <p:spPr>
          <a:xfrm>
            <a:off x="3010365" y="3889744"/>
            <a:ext cx="251033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5722"/>
                </a:solidFill>
              </a:rPr>
              <a:t>Motivasyon</a:t>
            </a:r>
            <a:endParaRPr lang="en-US" sz="784" dirty="0"/>
          </a:p>
        </p:txBody>
      </p:sp>
      <p:sp>
        <p:nvSpPr>
          <p:cNvPr id="12" name="Text 9"/>
          <p:cNvSpPr/>
          <p:nvPr/>
        </p:nvSpPr>
        <p:spPr>
          <a:xfrm>
            <a:off x="3010365" y="4087983"/>
            <a:ext cx="1522149"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00000"/>
                </a:solidFill>
              </a:rPr>
              <a:t>Güvenilir Koruma Katmanı</a:t>
            </a:r>
            <a:endParaRPr lang="en-US" sz="784" dirty="0"/>
          </a:p>
        </p:txBody>
      </p:sp>
      <p:sp>
        <p:nvSpPr>
          <p:cNvPr id="13" name="Shape 10"/>
          <p:cNvSpPr/>
          <p:nvPr/>
        </p:nvSpPr>
        <p:spPr>
          <a:xfrm>
            <a:off x="5749296" y="-7144"/>
            <a:ext cx="3394704" cy="5143500"/>
          </a:xfrm>
          <a:prstGeom prst="rect">
            <a:avLst/>
          </a:prstGeom>
          <a:solidFill>
            <a:srgbClr val="F5F5F5"/>
          </a:solidFill>
          <a:ln/>
        </p:spPr>
      </p:sp>
      <p:sp>
        <p:nvSpPr>
          <p:cNvPr id="14" name="Shape 11"/>
          <p:cNvSpPr/>
          <p:nvPr/>
        </p:nvSpPr>
        <p:spPr>
          <a:xfrm>
            <a:off x="6003596" y="392906"/>
            <a:ext cx="2886075" cy="1957388"/>
          </a:xfrm>
          <a:prstGeom prst="rect">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6175046" y="585788"/>
            <a:ext cx="2543175" cy="1571625"/>
          </a:xfrm>
          <a:prstGeom prst="rect">
            <a:avLst/>
          </a:prstGeom>
        </p:spPr>
      </p:pic>
      <p:sp>
        <p:nvSpPr>
          <p:cNvPr id="16" name="Text 12"/>
          <p:cNvSpPr/>
          <p:nvPr/>
        </p:nvSpPr>
        <p:spPr>
          <a:xfrm>
            <a:off x="6790525" y="2407444"/>
            <a:ext cx="1312218" cy="135731"/>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666666"/>
                </a:solidFill>
              </a:rPr>
              <a:t>Phishing Saldırı Akışı</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71500"/>
            <a:ext cx="8715375"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Literatür Taraması: Hibrit Özellikler ve Gradient Boosting Standartlaşıyor</a:t>
            </a:r>
            <a:endParaRPr lang="en-US" sz="2121" dirty="0"/>
          </a:p>
        </p:txBody>
      </p:sp>
      <p:sp>
        <p:nvSpPr>
          <p:cNvPr id="4" name="Text 1"/>
          <p:cNvSpPr/>
          <p:nvPr/>
        </p:nvSpPr>
        <p:spPr>
          <a:xfrm>
            <a:off x="285750" y="1374446"/>
            <a:ext cx="7715250"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333333"/>
                </a:solidFill>
              </a:rPr>
              <a:t>Son yıllarda yapılan akademik çalışmalar, URL analizinde makine öğrenmesi modellerinin başarısını açıkça ortaya koymaktadır. Özellikle 2022-2025 literatürü, hibrit özellik setleri ve gradient boosting algoritmalarının phishing tespitinde ön plana çıktığını göstermektedir.</a:t>
            </a:r>
            <a:endParaRPr lang="en-US" sz="942" dirty="0"/>
          </a:p>
        </p:txBody>
      </p:sp>
      <p:sp>
        <p:nvSpPr>
          <p:cNvPr id="5" name="Shape 2"/>
          <p:cNvSpPr/>
          <p:nvPr/>
        </p:nvSpPr>
        <p:spPr>
          <a:xfrm>
            <a:off x="285750" y="2120187"/>
            <a:ext cx="1428750" cy="403622"/>
          </a:xfrm>
          <a:prstGeom prst="rect">
            <a:avLst/>
          </a:prstGeom>
          <a:solidFill>
            <a:srgbClr val="1A237E"/>
          </a:solidFill>
          <a:ln/>
        </p:spPr>
      </p:sp>
      <p:sp>
        <p:nvSpPr>
          <p:cNvPr id="6" name="Text 3"/>
          <p:cNvSpPr/>
          <p:nvPr/>
        </p:nvSpPr>
        <p:spPr>
          <a:xfrm>
            <a:off x="285750" y="2120187"/>
            <a:ext cx="1428750" cy="403622"/>
          </a:xfrm>
          <a:prstGeom prst="rect">
            <a:avLst/>
          </a:prstGeom>
          <a:noFill/>
          <a:ln/>
        </p:spPr>
        <p:txBody>
          <a:bodyPr wrap="square" lIns="102108" tIns="102108" rIns="102108" bIns="102108" rtlCol="0" anchor="ctr">
            <a:spAutoFit/>
          </a:bodyPr>
          <a:lstStyle/>
          <a:p>
            <a:pPr algn="l" indent="0" marL="0">
              <a:lnSpc>
                <a:spcPts val="900"/>
              </a:lnSpc>
              <a:buNone/>
            </a:pPr>
            <a:r>
              <a:rPr lang="en-US" sz="683" b="1" spc="1" kern="0" dirty="0">
                <a:solidFill>
                  <a:srgbClr val="FFFFFF"/>
                </a:solidFill>
              </a:rPr>
              <a:t>Yazar &amp; Yıl</a:t>
            </a:r>
            <a:endParaRPr lang="en-US" sz="683" dirty="0"/>
          </a:p>
        </p:txBody>
      </p:sp>
      <p:sp>
        <p:nvSpPr>
          <p:cNvPr id="7" name="Shape 4"/>
          <p:cNvSpPr/>
          <p:nvPr/>
        </p:nvSpPr>
        <p:spPr>
          <a:xfrm>
            <a:off x="1714500" y="2120187"/>
            <a:ext cx="5000625" cy="403622"/>
          </a:xfrm>
          <a:prstGeom prst="rect">
            <a:avLst/>
          </a:prstGeom>
          <a:solidFill>
            <a:srgbClr val="1A237E"/>
          </a:solidFill>
          <a:ln/>
        </p:spPr>
      </p:sp>
      <p:sp>
        <p:nvSpPr>
          <p:cNvPr id="8" name="Text 5"/>
          <p:cNvSpPr/>
          <p:nvPr/>
        </p:nvSpPr>
        <p:spPr>
          <a:xfrm>
            <a:off x="1714500" y="2120187"/>
            <a:ext cx="5000625" cy="403622"/>
          </a:xfrm>
          <a:prstGeom prst="rect">
            <a:avLst/>
          </a:prstGeom>
          <a:noFill/>
          <a:ln/>
        </p:spPr>
        <p:txBody>
          <a:bodyPr wrap="square" lIns="102108" tIns="102108" rIns="102108" bIns="102108" rtlCol="0" anchor="ctr">
            <a:spAutoFit/>
          </a:bodyPr>
          <a:lstStyle/>
          <a:p>
            <a:pPr algn="l" indent="0" marL="0">
              <a:lnSpc>
                <a:spcPts val="900"/>
              </a:lnSpc>
              <a:buNone/>
            </a:pPr>
            <a:r>
              <a:rPr lang="en-US" sz="683" b="1" spc="1" kern="0" dirty="0">
                <a:solidFill>
                  <a:srgbClr val="FFFFFF"/>
                </a:solidFill>
              </a:rPr>
              <a:t>Temel Odak Noktası</a:t>
            </a:r>
            <a:endParaRPr lang="en-US" sz="683" dirty="0"/>
          </a:p>
        </p:txBody>
      </p:sp>
      <p:sp>
        <p:nvSpPr>
          <p:cNvPr id="9" name="Shape 6"/>
          <p:cNvSpPr/>
          <p:nvPr/>
        </p:nvSpPr>
        <p:spPr>
          <a:xfrm>
            <a:off x="6715125" y="2120187"/>
            <a:ext cx="1285875" cy="403622"/>
          </a:xfrm>
          <a:prstGeom prst="rect">
            <a:avLst/>
          </a:prstGeom>
          <a:solidFill>
            <a:srgbClr val="1A237E"/>
          </a:solidFill>
          <a:ln/>
        </p:spPr>
      </p:sp>
      <p:sp>
        <p:nvSpPr>
          <p:cNvPr id="10" name="Text 7"/>
          <p:cNvSpPr/>
          <p:nvPr/>
        </p:nvSpPr>
        <p:spPr>
          <a:xfrm>
            <a:off x="6715125" y="2120187"/>
            <a:ext cx="1285875" cy="403622"/>
          </a:xfrm>
          <a:prstGeom prst="rect">
            <a:avLst/>
          </a:prstGeom>
          <a:noFill/>
          <a:ln/>
        </p:spPr>
        <p:txBody>
          <a:bodyPr wrap="square" lIns="102108" tIns="102108" rIns="102108" bIns="102108" rtlCol="0" anchor="ctr">
            <a:spAutoFit/>
          </a:bodyPr>
          <a:lstStyle/>
          <a:p>
            <a:pPr algn="l" indent="0" marL="0">
              <a:lnSpc>
                <a:spcPts val="900"/>
              </a:lnSpc>
              <a:buNone/>
            </a:pPr>
            <a:r>
              <a:rPr lang="en-US" sz="683" b="1" spc="1" kern="0" dirty="0">
                <a:solidFill>
                  <a:srgbClr val="FFFFFF"/>
                </a:solidFill>
              </a:rPr>
              <a:t>En İyi Model</a:t>
            </a:r>
            <a:endParaRPr lang="en-US" sz="683" dirty="0"/>
          </a:p>
        </p:txBody>
      </p:sp>
      <p:sp>
        <p:nvSpPr>
          <p:cNvPr id="11" name="Shape 8"/>
          <p:cNvSpPr/>
          <p:nvPr/>
        </p:nvSpPr>
        <p:spPr>
          <a:xfrm>
            <a:off x="8001000" y="2120187"/>
            <a:ext cx="857250" cy="403622"/>
          </a:xfrm>
          <a:prstGeom prst="rect">
            <a:avLst/>
          </a:prstGeom>
          <a:solidFill>
            <a:srgbClr val="1A237E"/>
          </a:solidFill>
          <a:ln/>
        </p:spPr>
      </p:sp>
      <p:sp>
        <p:nvSpPr>
          <p:cNvPr id="12" name="Text 9"/>
          <p:cNvSpPr/>
          <p:nvPr/>
        </p:nvSpPr>
        <p:spPr>
          <a:xfrm>
            <a:off x="8001000" y="2120187"/>
            <a:ext cx="857250" cy="403622"/>
          </a:xfrm>
          <a:prstGeom prst="rect">
            <a:avLst/>
          </a:prstGeom>
          <a:noFill/>
          <a:ln/>
        </p:spPr>
        <p:txBody>
          <a:bodyPr wrap="square" lIns="102108" tIns="102108" rIns="102108" bIns="102108" rtlCol="0" anchor="ctr">
            <a:spAutoFit/>
          </a:bodyPr>
          <a:lstStyle/>
          <a:p>
            <a:pPr algn="r" indent="0" marL="0">
              <a:lnSpc>
                <a:spcPts val="900"/>
              </a:lnSpc>
              <a:buNone/>
            </a:pPr>
            <a:r>
              <a:rPr lang="en-US" sz="683" b="1" spc="1" kern="0" dirty="0">
                <a:solidFill>
                  <a:srgbClr val="FFFFFF"/>
                </a:solidFill>
              </a:rPr>
              <a:t>Doğruluk (Acc)</a:t>
            </a:r>
            <a:endParaRPr lang="en-US" sz="683" dirty="0"/>
          </a:p>
        </p:txBody>
      </p:sp>
      <p:sp>
        <p:nvSpPr>
          <p:cNvPr id="13" name="Text 10"/>
          <p:cNvSpPr/>
          <p:nvPr/>
        </p:nvSpPr>
        <p:spPr>
          <a:xfrm>
            <a:off x="285750" y="2523809"/>
            <a:ext cx="1428750" cy="339328"/>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1A237E"/>
                </a:solidFill>
              </a:rPr>
              <a:t>Kinaneva (2025)</a:t>
            </a:r>
            <a:endParaRPr lang="en-US" sz="784" dirty="0"/>
          </a:p>
        </p:txBody>
      </p:sp>
      <p:sp>
        <p:nvSpPr>
          <p:cNvPr id="14" name="Text 11"/>
          <p:cNvSpPr/>
          <p:nvPr/>
        </p:nvSpPr>
        <p:spPr>
          <a:xfrm>
            <a:off x="1714500" y="2523809"/>
            <a:ext cx="5000625" cy="339328"/>
          </a:xfrm>
          <a:prstGeom prst="rect">
            <a:avLst/>
          </a:prstGeom>
          <a:noFill/>
          <a:ln/>
        </p:spPr>
        <p:txBody>
          <a:bodyPr wrap="square" lIns="85090" tIns="102108" rIns="85090" bIns="102108" rtlCol="0" anchor="ctr">
            <a:spAutoFit/>
          </a:bodyPr>
          <a:lstStyle/>
          <a:p>
            <a:pPr algn="l" indent="0" marL="0">
              <a:lnSpc>
                <a:spcPts val="1100"/>
              </a:lnSpc>
              <a:buNone/>
            </a:pPr>
            <a:r>
              <a:rPr lang="en-US" sz="834" dirty="0">
                <a:solidFill>
                  <a:srgbClr val="333333"/>
                </a:solidFill>
              </a:rPr>
              <a:t>URL tabanlı hibrit özellikler ve çoklu veri seti birleştirme</a:t>
            </a:r>
            <a:endParaRPr lang="en-US" sz="834" dirty="0"/>
          </a:p>
        </p:txBody>
      </p:sp>
      <p:sp>
        <p:nvSpPr>
          <p:cNvPr id="15" name="Text 12"/>
          <p:cNvSpPr/>
          <p:nvPr/>
        </p:nvSpPr>
        <p:spPr>
          <a:xfrm>
            <a:off x="6715125" y="2523809"/>
            <a:ext cx="1285875" cy="339328"/>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333333"/>
                </a:solidFill>
              </a:rPr>
              <a:t>Random Forest</a:t>
            </a:r>
            <a:endParaRPr lang="en-US" sz="784" dirty="0"/>
          </a:p>
        </p:txBody>
      </p:sp>
      <p:sp>
        <p:nvSpPr>
          <p:cNvPr id="16" name="Text 13"/>
          <p:cNvSpPr/>
          <p:nvPr/>
        </p:nvSpPr>
        <p:spPr>
          <a:xfrm>
            <a:off x="8001000" y="2523809"/>
            <a:ext cx="857250" cy="339328"/>
          </a:xfrm>
          <a:prstGeom prst="rect">
            <a:avLst/>
          </a:prstGeom>
          <a:noFill/>
          <a:ln/>
        </p:spPr>
        <p:txBody>
          <a:bodyPr wrap="square" lIns="85090" tIns="102108" rIns="85090" bIns="102108" rtlCol="0" anchor="ctr">
            <a:spAutoFit/>
          </a:bodyPr>
          <a:lstStyle/>
          <a:p>
            <a:pPr algn="r" indent="0" marL="0">
              <a:lnSpc>
                <a:spcPts val="1400"/>
              </a:lnSpc>
              <a:buNone/>
            </a:pPr>
            <a:r>
              <a:rPr lang="en-US" sz="987" b="1" dirty="0">
                <a:solidFill>
                  <a:srgbClr val="FF5722"/>
                </a:solidFill>
              </a:rPr>
              <a:t>%98.00</a:t>
            </a:r>
            <a:endParaRPr lang="en-US" sz="987" dirty="0"/>
          </a:p>
        </p:txBody>
      </p:sp>
      <p:sp>
        <p:nvSpPr>
          <p:cNvPr id="17" name="Text 14"/>
          <p:cNvSpPr/>
          <p:nvPr/>
        </p:nvSpPr>
        <p:spPr>
          <a:xfrm>
            <a:off x="285750" y="2863137"/>
            <a:ext cx="1428750" cy="342900"/>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1A237E"/>
                </a:solidFill>
              </a:rPr>
              <a:t>Tamal (2024)</a:t>
            </a:r>
            <a:endParaRPr lang="en-US" sz="784" dirty="0"/>
          </a:p>
        </p:txBody>
      </p:sp>
      <p:sp>
        <p:nvSpPr>
          <p:cNvPr id="18" name="Text 15"/>
          <p:cNvSpPr/>
          <p:nvPr/>
        </p:nvSpPr>
        <p:spPr>
          <a:xfrm>
            <a:off x="1714500" y="2863137"/>
            <a:ext cx="5000625" cy="342900"/>
          </a:xfrm>
          <a:prstGeom prst="rect">
            <a:avLst/>
          </a:prstGeom>
          <a:noFill/>
          <a:ln/>
        </p:spPr>
        <p:txBody>
          <a:bodyPr wrap="square" lIns="85090" tIns="102108" rIns="85090" bIns="102108" rtlCol="0" anchor="ctr">
            <a:spAutoFit/>
          </a:bodyPr>
          <a:lstStyle/>
          <a:p>
            <a:pPr algn="l" indent="0" marL="0">
              <a:lnSpc>
                <a:spcPts val="1100"/>
              </a:lnSpc>
              <a:buNone/>
            </a:pPr>
            <a:r>
              <a:rPr lang="en-US" sz="834" dirty="0">
                <a:solidFill>
                  <a:srgbClr val="333333"/>
                </a:solidFill>
              </a:rPr>
              <a:t>Yapısal URL özellikleri ve büyük ölçekli veri analizi</a:t>
            </a:r>
            <a:endParaRPr lang="en-US" sz="834" dirty="0"/>
          </a:p>
        </p:txBody>
      </p:sp>
      <p:sp>
        <p:nvSpPr>
          <p:cNvPr id="19" name="Text 16"/>
          <p:cNvSpPr/>
          <p:nvPr/>
        </p:nvSpPr>
        <p:spPr>
          <a:xfrm>
            <a:off x="6715125" y="2863137"/>
            <a:ext cx="1285875" cy="342900"/>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333333"/>
                </a:solidFill>
              </a:rPr>
              <a:t>Random Forest</a:t>
            </a:r>
            <a:endParaRPr lang="en-US" sz="784" dirty="0"/>
          </a:p>
        </p:txBody>
      </p:sp>
      <p:sp>
        <p:nvSpPr>
          <p:cNvPr id="20" name="Text 17"/>
          <p:cNvSpPr/>
          <p:nvPr/>
        </p:nvSpPr>
        <p:spPr>
          <a:xfrm>
            <a:off x="8001000" y="2863137"/>
            <a:ext cx="857250" cy="342900"/>
          </a:xfrm>
          <a:prstGeom prst="rect">
            <a:avLst/>
          </a:prstGeom>
          <a:noFill/>
          <a:ln/>
        </p:spPr>
        <p:txBody>
          <a:bodyPr wrap="square" lIns="85090" tIns="102108" rIns="85090" bIns="102108" rtlCol="0" anchor="ctr">
            <a:spAutoFit/>
          </a:bodyPr>
          <a:lstStyle/>
          <a:p>
            <a:pPr algn="r" indent="0" marL="0">
              <a:lnSpc>
                <a:spcPts val="1400"/>
              </a:lnSpc>
              <a:buNone/>
            </a:pPr>
            <a:r>
              <a:rPr lang="en-US" sz="987" b="1" dirty="0">
                <a:solidFill>
                  <a:srgbClr val="FF5722"/>
                </a:solidFill>
              </a:rPr>
              <a:t>%99.57</a:t>
            </a:r>
            <a:endParaRPr lang="en-US" sz="987" dirty="0"/>
          </a:p>
        </p:txBody>
      </p:sp>
      <p:sp>
        <p:nvSpPr>
          <p:cNvPr id="21" name="Text 18"/>
          <p:cNvSpPr/>
          <p:nvPr/>
        </p:nvSpPr>
        <p:spPr>
          <a:xfrm>
            <a:off x="285750" y="3206037"/>
            <a:ext cx="1428750" cy="342900"/>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1A237E"/>
                </a:solidFill>
              </a:rPr>
              <a:t>Gupta (2023)</a:t>
            </a:r>
            <a:endParaRPr lang="en-US" sz="784" dirty="0"/>
          </a:p>
        </p:txBody>
      </p:sp>
      <p:sp>
        <p:nvSpPr>
          <p:cNvPr id="22" name="Text 19"/>
          <p:cNvSpPr/>
          <p:nvPr/>
        </p:nvSpPr>
        <p:spPr>
          <a:xfrm>
            <a:off x="1714500" y="3206037"/>
            <a:ext cx="5000625" cy="342900"/>
          </a:xfrm>
          <a:prstGeom prst="rect">
            <a:avLst/>
          </a:prstGeom>
          <a:noFill/>
          <a:ln/>
        </p:spPr>
        <p:txBody>
          <a:bodyPr wrap="square" lIns="85090" tIns="102108" rIns="85090" bIns="102108" rtlCol="0" anchor="ctr">
            <a:spAutoFit/>
          </a:bodyPr>
          <a:lstStyle/>
          <a:p>
            <a:pPr algn="l" indent="0" marL="0">
              <a:lnSpc>
                <a:spcPts val="1100"/>
              </a:lnSpc>
              <a:buNone/>
            </a:pPr>
            <a:r>
              <a:rPr lang="en-US" sz="834" dirty="0">
                <a:solidFill>
                  <a:srgbClr val="333333"/>
                </a:solidFill>
              </a:rPr>
              <a:t>Gerçek zamanlı sözcüksel analiz ve düşük özellik sayısı</a:t>
            </a:r>
            <a:endParaRPr lang="en-US" sz="834" dirty="0"/>
          </a:p>
        </p:txBody>
      </p:sp>
      <p:sp>
        <p:nvSpPr>
          <p:cNvPr id="23" name="Text 20"/>
          <p:cNvSpPr/>
          <p:nvPr/>
        </p:nvSpPr>
        <p:spPr>
          <a:xfrm>
            <a:off x="6715125" y="3206037"/>
            <a:ext cx="1285875" cy="342900"/>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333333"/>
                </a:solidFill>
              </a:rPr>
              <a:t>Random Forest</a:t>
            </a:r>
            <a:endParaRPr lang="en-US" sz="784" dirty="0"/>
          </a:p>
        </p:txBody>
      </p:sp>
      <p:sp>
        <p:nvSpPr>
          <p:cNvPr id="24" name="Text 21"/>
          <p:cNvSpPr/>
          <p:nvPr/>
        </p:nvSpPr>
        <p:spPr>
          <a:xfrm>
            <a:off x="8001000" y="3206037"/>
            <a:ext cx="857250" cy="342900"/>
          </a:xfrm>
          <a:prstGeom prst="rect">
            <a:avLst/>
          </a:prstGeom>
          <a:noFill/>
          <a:ln/>
        </p:spPr>
        <p:txBody>
          <a:bodyPr wrap="square" lIns="85090" tIns="102108" rIns="85090" bIns="102108" rtlCol="0" anchor="ctr">
            <a:spAutoFit/>
          </a:bodyPr>
          <a:lstStyle/>
          <a:p>
            <a:pPr algn="r" indent="0" marL="0">
              <a:lnSpc>
                <a:spcPts val="1400"/>
              </a:lnSpc>
              <a:buNone/>
            </a:pPr>
            <a:r>
              <a:rPr lang="en-US" sz="987" b="1" dirty="0">
                <a:solidFill>
                  <a:srgbClr val="FF5722"/>
                </a:solidFill>
              </a:rPr>
              <a:t>%99.57</a:t>
            </a:r>
            <a:endParaRPr lang="en-US" sz="987" dirty="0"/>
          </a:p>
        </p:txBody>
      </p:sp>
      <p:sp>
        <p:nvSpPr>
          <p:cNvPr id="25" name="Text 22"/>
          <p:cNvSpPr/>
          <p:nvPr/>
        </p:nvSpPr>
        <p:spPr>
          <a:xfrm>
            <a:off x="285750" y="3548937"/>
            <a:ext cx="1428750" cy="342900"/>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1A237E"/>
                </a:solidFill>
              </a:rPr>
              <a:t>Odeh (2023)</a:t>
            </a:r>
            <a:endParaRPr lang="en-US" sz="784" dirty="0"/>
          </a:p>
        </p:txBody>
      </p:sp>
      <p:sp>
        <p:nvSpPr>
          <p:cNvPr id="26" name="Text 23"/>
          <p:cNvSpPr/>
          <p:nvPr/>
        </p:nvSpPr>
        <p:spPr>
          <a:xfrm>
            <a:off x="1714500" y="3548937"/>
            <a:ext cx="5000625" cy="342900"/>
          </a:xfrm>
          <a:prstGeom prst="rect">
            <a:avLst/>
          </a:prstGeom>
          <a:noFill/>
          <a:ln/>
        </p:spPr>
        <p:txBody>
          <a:bodyPr wrap="square" lIns="85090" tIns="102108" rIns="85090" bIns="102108" rtlCol="0" anchor="ctr">
            <a:spAutoFit/>
          </a:bodyPr>
          <a:lstStyle/>
          <a:p>
            <a:pPr algn="l" indent="0" marL="0">
              <a:lnSpc>
                <a:spcPts val="1100"/>
              </a:lnSpc>
              <a:buNone/>
            </a:pPr>
            <a:r>
              <a:rPr lang="en-US" sz="834" dirty="0">
                <a:solidFill>
                  <a:srgbClr val="333333"/>
                </a:solidFill>
              </a:rPr>
              <a:t>Gradient Boosting algoritmalarının karşılaştırmalı analizi</a:t>
            </a:r>
            <a:endParaRPr lang="en-US" sz="834" dirty="0"/>
          </a:p>
        </p:txBody>
      </p:sp>
      <p:sp>
        <p:nvSpPr>
          <p:cNvPr id="27" name="Text 24"/>
          <p:cNvSpPr/>
          <p:nvPr/>
        </p:nvSpPr>
        <p:spPr>
          <a:xfrm>
            <a:off x="6715125" y="3548937"/>
            <a:ext cx="1285875" cy="342900"/>
          </a:xfrm>
          <a:prstGeom prst="rect">
            <a:avLst/>
          </a:prstGeom>
          <a:noFill/>
          <a:ln/>
        </p:spPr>
        <p:txBody>
          <a:bodyPr wrap="square" lIns="85090" tIns="102108" rIns="85090" bIns="102108" rtlCol="0" anchor="ctr">
            <a:spAutoFit/>
          </a:bodyPr>
          <a:lstStyle/>
          <a:p>
            <a:pPr algn="l" indent="0" marL="0">
              <a:lnSpc>
                <a:spcPts val="1100"/>
              </a:lnSpc>
              <a:buNone/>
            </a:pPr>
            <a:r>
              <a:rPr lang="en-US" sz="784" b="1" dirty="0">
                <a:solidFill>
                  <a:srgbClr val="333333"/>
                </a:solidFill>
              </a:rPr>
              <a:t>CatBoost</a:t>
            </a:r>
            <a:endParaRPr lang="en-US" sz="784" dirty="0"/>
          </a:p>
        </p:txBody>
      </p:sp>
      <p:sp>
        <p:nvSpPr>
          <p:cNvPr id="28" name="Text 25"/>
          <p:cNvSpPr/>
          <p:nvPr/>
        </p:nvSpPr>
        <p:spPr>
          <a:xfrm>
            <a:off x="8001000" y="3548937"/>
            <a:ext cx="857250" cy="342900"/>
          </a:xfrm>
          <a:prstGeom prst="rect">
            <a:avLst/>
          </a:prstGeom>
          <a:noFill/>
          <a:ln/>
        </p:spPr>
        <p:txBody>
          <a:bodyPr wrap="square" lIns="85090" tIns="102108" rIns="85090" bIns="102108" rtlCol="0" anchor="ctr">
            <a:spAutoFit/>
          </a:bodyPr>
          <a:lstStyle/>
          <a:p>
            <a:pPr algn="r" indent="0" marL="0">
              <a:lnSpc>
                <a:spcPts val="1400"/>
              </a:lnSpc>
              <a:buNone/>
            </a:pPr>
            <a:r>
              <a:rPr lang="en-US" sz="987" b="1" dirty="0">
                <a:solidFill>
                  <a:srgbClr val="FF5722"/>
                </a:solidFill>
              </a:rPr>
              <a:t>%96.90</a:t>
            </a:r>
            <a:endParaRPr lang="en-US" sz="98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711082"/>
            <a:ext cx="4714875" cy="597173"/>
          </a:xfrm>
          <a:prstGeom prst="rect">
            <a:avLst/>
          </a:prstGeom>
          <a:noFill/>
          <a:ln/>
        </p:spPr>
        <p:txBody>
          <a:bodyPr wrap="square" lIns="0" tIns="0" rIns="0" bIns="0" rtlCol="0" anchor="t">
            <a:spAutoFit/>
          </a:bodyPr>
          <a:lstStyle/>
          <a:p>
            <a:pPr algn="l" indent="0" marL="0">
              <a:lnSpc>
                <a:spcPts val="2400"/>
              </a:lnSpc>
              <a:buNone/>
            </a:pPr>
            <a:r>
              <a:rPr lang="en-US" sz="1912" b="1" dirty="0">
                <a:solidFill>
                  <a:srgbClr val="1A237E"/>
                </a:solidFill>
              </a:rPr>
              <a:t>Veri Seti Oluşturma: Güncel ve Dengeli Veri Kaynakları</a:t>
            </a:r>
            <a:endParaRPr lang="en-US" sz="1912" dirty="0"/>
          </a:p>
        </p:txBody>
      </p:sp>
      <p:sp>
        <p:nvSpPr>
          <p:cNvPr id="4" name="Text 1"/>
          <p:cNvSpPr/>
          <p:nvPr/>
        </p:nvSpPr>
        <p:spPr>
          <a:xfrm>
            <a:off x="428625" y="1522568"/>
            <a:ext cx="798509" cy="221456"/>
          </a:xfrm>
          <a:prstGeom prst="rect">
            <a:avLst/>
          </a:prstGeom>
          <a:noFill/>
          <a:ln/>
        </p:spPr>
        <p:txBody>
          <a:bodyPr wrap="square" lIns="8509" tIns="8509" rIns="8509" bIns="85090" rtlCol="0" anchor="ctr">
            <a:spAutoFit/>
          </a:bodyPr>
          <a:lstStyle/>
          <a:p>
            <a:pPr algn="l" indent="0" marL="0">
              <a:lnSpc>
                <a:spcPts val="900"/>
              </a:lnSpc>
              <a:buNone/>
            </a:pPr>
            <a:r>
              <a:rPr lang="en-US" sz="683" b="1" dirty="0">
                <a:solidFill>
                  <a:srgbClr val="FF5722"/>
                </a:solidFill>
              </a:rPr>
              <a:t>Veri Türü</a:t>
            </a:r>
            <a:endParaRPr lang="en-US" sz="683" dirty="0"/>
          </a:p>
        </p:txBody>
      </p:sp>
      <p:sp>
        <p:nvSpPr>
          <p:cNvPr id="5" name="Text 2"/>
          <p:cNvSpPr/>
          <p:nvPr/>
        </p:nvSpPr>
        <p:spPr>
          <a:xfrm>
            <a:off x="1227134" y="1522568"/>
            <a:ext cx="2594688" cy="221456"/>
          </a:xfrm>
          <a:prstGeom prst="rect">
            <a:avLst/>
          </a:prstGeom>
          <a:noFill/>
          <a:ln/>
        </p:spPr>
        <p:txBody>
          <a:bodyPr wrap="square" lIns="8509" tIns="8509" rIns="8509" bIns="85090" rtlCol="0" anchor="ctr">
            <a:spAutoFit/>
          </a:bodyPr>
          <a:lstStyle/>
          <a:p>
            <a:pPr algn="l" indent="0" marL="0">
              <a:lnSpc>
                <a:spcPts val="900"/>
              </a:lnSpc>
              <a:buNone/>
            </a:pPr>
            <a:r>
              <a:rPr lang="en-US" sz="683" b="1" dirty="0">
                <a:solidFill>
                  <a:srgbClr val="FF5722"/>
                </a:solidFill>
              </a:rPr>
              <a:t>Kaynaklar</a:t>
            </a:r>
            <a:endParaRPr lang="en-US" sz="683" dirty="0"/>
          </a:p>
        </p:txBody>
      </p:sp>
      <p:sp>
        <p:nvSpPr>
          <p:cNvPr id="6" name="Text 3"/>
          <p:cNvSpPr/>
          <p:nvPr/>
        </p:nvSpPr>
        <p:spPr>
          <a:xfrm>
            <a:off x="3821823" y="1522568"/>
            <a:ext cx="1321677" cy="221456"/>
          </a:xfrm>
          <a:prstGeom prst="rect">
            <a:avLst/>
          </a:prstGeom>
          <a:noFill/>
          <a:ln/>
        </p:spPr>
        <p:txBody>
          <a:bodyPr wrap="square" lIns="8509" tIns="8509" rIns="8509" bIns="85090" rtlCol="0" anchor="ctr">
            <a:spAutoFit/>
          </a:bodyPr>
          <a:lstStyle/>
          <a:p>
            <a:pPr algn="l" indent="0" marL="0">
              <a:lnSpc>
                <a:spcPts val="900"/>
              </a:lnSpc>
              <a:buNone/>
            </a:pPr>
            <a:r>
              <a:rPr lang="en-US" sz="683" b="1" dirty="0">
                <a:solidFill>
                  <a:srgbClr val="FF5722"/>
                </a:solidFill>
              </a:rPr>
              <a:t>Tarih Aralığı</a:t>
            </a:r>
            <a:endParaRPr lang="en-US" sz="683" dirty="0"/>
          </a:p>
        </p:txBody>
      </p:sp>
      <p:sp>
        <p:nvSpPr>
          <p:cNvPr id="7" name="Text 4"/>
          <p:cNvSpPr/>
          <p:nvPr/>
        </p:nvSpPr>
        <p:spPr>
          <a:xfrm>
            <a:off x="435769" y="1836893"/>
            <a:ext cx="49596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237E"/>
                </a:solidFill>
              </a:rPr>
              <a:t>Phishing</a:t>
            </a:r>
            <a:endParaRPr lang="en-US" sz="784" dirty="0"/>
          </a:p>
        </p:txBody>
      </p:sp>
      <p:sp>
        <p:nvSpPr>
          <p:cNvPr id="8" name="Text 5"/>
          <p:cNvSpPr/>
          <p:nvPr/>
        </p:nvSpPr>
        <p:spPr>
          <a:xfrm>
            <a:off x="1227134" y="1744024"/>
            <a:ext cx="2594688" cy="337542"/>
          </a:xfrm>
          <a:prstGeom prst="rect">
            <a:avLst/>
          </a:prstGeom>
          <a:noFill/>
          <a:ln/>
        </p:spPr>
        <p:txBody>
          <a:bodyPr wrap="square" lIns="8509" tIns="102108" rIns="8509" bIns="102108" rtlCol="0" anchor="ctr">
            <a:spAutoFit/>
          </a:bodyPr>
          <a:lstStyle/>
          <a:p>
            <a:pPr algn="l" indent="0" marL="0">
              <a:lnSpc>
                <a:spcPts val="1100"/>
              </a:lnSpc>
              <a:buNone/>
            </a:pPr>
            <a:r>
              <a:rPr lang="en-US" sz="834" dirty="0">
                <a:solidFill>
                  <a:srgbClr val="000000"/>
                </a:solidFill>
              </a:rPr>
              <a:t>Openphish, PhishTank, URLHaus</a:t>
            </a:r>
            <a:endParaRPr lang="en-US" sz="834" dirty="0"/>
          </a:p>
        </p:txBody>
      </p:sp>
      <p:sp>
        <p:nvSpPr>
          <p:cNvPr id="9" name="Text 6"/>
          <p:cNvSpPr/>
          <p:nvPr/>
        </p:nvSpPr>
        <p:spPr>
          <a:xfrm>
            <a:off x="3821823" y="1744024"/>
            <a:ext cx="1321677" cy="337542"/>
          </a:xfrm>
          <a:prstGeom prst="rect">
            <a:avLst/>
          </a:prstGeom>
          <a:noFill/>
          <a:ln/>
        </p:spPr>
        <p:txBody>
          <a:bodyPr wrap="square" lIns="8509" tIns="102108" rIns="8509" bIns="102108" rtlCol="0" anchor="ctr">
            <a:spAutoFit/>
          </a:bodyPr>
          <a:lstStyle/>
          <a:p>
            <a:pPr algn="l" indent="0" marL="0">
              <a:lnSpc>
                <a:spcPts val="1100"/>
              </a:lnSpc>
              <a:buNone/>
            </a:pPr>
            <a:r>
              <a:rPr lang="en-US" sz="834" dirty="0">
                <a:solidFill>
                  <a:srgbClr val="000000"/>
                </a:solidFill>
              </a:rPr>
              <a:t>2024 - 2025</a:t>
            </a:r>
            <a:endParaRPr lang="en-US" sz="834" dirty="0"/>
          </a:p>
        </p:txBody>
      </p:sp>
      <p:sp>
        <p:nvSpPr>
          <p:cNvPr id="10" name="Text 7"/>
          <p:cNvSpPr/>
          <p:nvPr/>
        </p:nvSpPr>
        <p:spPr>
          <a:xfrm>
            <a:off x="435769" y="2170863"/>
            <a:ext cx="401780"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1A237E"/>
                </a:solidFill>
              </a:rPr>
              <a:t>Benign</a:t>
            </a:r>
            <a:endParaRPr lang="en-US" sz="784" dirty="0"/>
          </a:p>
        </p:txBody>
      </p:sp>
      <p:sp>
        <p:nvSpPr>
          <p:cNvPr id="11" name="Text 8"/>
          <p:cNvSpPr/>
          <p:nvPr/>
        </p:nvSpPr>
        <p:spPr>
          <a:xfrm>
            <a:off x="1227134" y="2081566"/>
            <a:ext cx="2594688" cy="333970"/>
          </a:xfrm>
          <a:prstGeom prst="rect">
            <a:avLst/>
          </a:prstGeom>
          <a:noFill/>
          <a:ln/>
        </p:spPr>
        <p:txBody>
          <a:bodyPr wrap="square" lIns="8509" tIns="102108" rIns="8509" bIns="102108" rtlCol="0" anchor="ctr">
            <a:spAutoFit/>
          </a:bodyPr>
          <a:lstStyle/>
          <a:p>
            <a:pPr algn="l" indent="0" marL="0">
              <a:lnSpc>
                <a:spcPts val="1100"/>
              </a:lnSpc>
              <a:buNone/>
            </a:pPr>
            <a:r>
              <a:rPr lang="en-US" sz="834" dirty="0">
                <a:solidFill>
                  <a:srgbClr val="000000"/>
                </a:solidFill>
              </a:rPr>
              <a:t>Tranco, SimilarWeb</a:t>
            </a:r>
            <a:endParaRPr lang="en-US" sz="834" dirty="0"/>
          </a:p>
        </p:txBody>
      </p:sp>
      <p:sp>
        <p:nvSpPr>
          <p:cNvPr id="12" name="Text 9"/>
          <p:cNvSpPr/>
          <p:nvPr/>
        </p:nvSpPr>
        <p:spPr>
          <a:xfrm>
            <a:off x="3821823" y="2081566"/>
            <a:ext cx="1321677" cy="333970"/>
          </a:xfrm>
          <a:prstGeom prst="rect">
            <a:avLst/>
          </a:prstGeom>
          <a:noFill/>
          <a:ln/>
        </p:spPr>
        <p:txBody>
          <a:bodyPr wrap="square" lIns="8509" tIns="102108" rIns="8509" bIns="102108" rtlCol="0" anchor="ctr">
            <a:spAutoFit/>
          </a:bodyPr>
          <a:lstStyle/>
          <a:p>
            <a:pPr algn="l" indent="0" marL="0">
              <a:lnSpc>
                <a:spcPts val="1100"/>
              </a:lnSpc>
              <a:buNone/>
            </a:pPr>
            <a:r>
              <a:rPr lang="en-US" sz="834" dirty="0">
                <a:solidFill>
                  <a:srgbClr val="000000"/>
                </a:solidFill>
              </a:rPr>
              <a:t>Güncel (Top List)</a:t>
            </a:r>
            <a:endParaRPr lang="en-US" sz="834" dirty="0"/>
          </a:p>
        </p:txBody>
      </p:sp>
      <p:sp>
        <p:nvSpPr>
          <p:cNvPr id="13" name="Text 10"/>
          <p:cNvSpPr/>
          <p:nvPr/>
        </p:nvSpPr>
        <p:spPr>
          <a:xfrm>
            <a:off x="428625" y="2561983"/>
            <a:ext cx="4714875"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Çalışmanın temelini oluşturan veri seti, 2024 ve 2025 yıllarını kapsayan güncel phishing ve benign (güvenli) URL'lerden titizlikle derlenmiştir. Veri hazırlama sürecindeki en kritik zorluk, güvenli URL'lerin genellikle kısa path yapılarına sahip olması.</a:t>
            </a:r>
            <a:endParaRPr lang="en-US" sz="834" dirty="0"/>
          </a:p>
        </p:txBody>
      </p:sp>
      <p:sp>
        <p:nvSpPr>
          <p:cNvPr id="14" name="Shape 11"/>
          <p:cNvSpPr/>
          <p:nvPr/>
        </p:nvSpPr>
        <p:spPr>
          <a:xfrm>
            <a:off x="5429250" y="0"/>
            <a:ext cx="3714750" cy="5143500"/>
          </a:xfrm>
          <a:prstGeom prst="rect">
            <a:avLst/>
          </a:prstGeom>
          <a:solidFill>
            <a:srgbClr val="1A237E"/>
          </a:solidFill>
          <a:ln/>
        </p:spPr>
      </p:sp>
      <p:sp>
        <p:nvSpPr>
          <p:cNvPr id="15" name="Text 12"/>
          <p:cNvSpPr/>
          <p:nvPr/>
        </p:nvSpPr>
        <p:spPr>
          <a:xfrm>
            <a:off x="5715000" y="742950"/>
            <a:ext cx="314325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5722"/>
                </a:solidFill>
              </a:rPr>
              <a:t>Temel Problem</a:t>
            </a:r>
            <a:endParaRPr lang="en-US" sz="1193" dirty="0"/>
          </a:p>
        </p:txBody>
      </p:sp>
      <p:sp>
        <p:nvSpPr>
          <p:cNvPr id="16" name="Text 13"/>
          <p:cNvSpPr/>
          <p:nvPr/>
        </p:nvSpPr>
        <p:spPr>
          <a:xfrm>
            <a:off x="5715000" y="1105495"/>
            <a:ext cx="3143250"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FFFFFF"/>
                </a:solidFill>
              </a:rPr>
              <a:t>Güvenli URL'lerin kısa path yapıları nedeniyle modellerin "kısa URL = güvenli" şeklinde yanlış bir çıkarım yapma riski.</a:t>
            </a:r>
            <a:endParaRPr lang="en-US" sz="942" dirty="0"/>
          </a:p>
        </p:txBody>
      </p:sp>
      <p:sp>
        <p:nvSpPr>
          <p:cNvPr id="17" name="Shape 14"/>
          <p:cNvSpPr/>
          <p:nvPr/>
        </p:nvSpPr>
        <p:spPr>
          <a:xfrm>
            <a:off x="5715000" y="1827014"/>
            <a:ext cx="1135438" cy="207169"/>
          </a:xfrm>
          <a:prstGeom prst="rect">
            <a:avLst/>
          </a:prstGeom>
          <a:solidFill>
            <a:srgbClr val="FF5722"/>
          </a:solidFill>
          <a:ln/>
        </p:spPr>
      </p:sp>
      <p:sp>
        <p:nvSpPr>
          <p:cNvPr id="18" name="Text 15"/>
          <p:cNvSpPr/>
          <p:nvPr/>
        </p:nvSpPr>
        <p:spPr>
          <a:xfrm>
            <a:off x="5715000" y="1827014"/>
            <a:ext cx="1135438" cy="207169"/>
          </a:xfrm>
          <a:prstGeom prst="rect">
            <a:avLst/>
          </a:prstGeom>
          <a:noFill/>
          <a:ln/>
        </p:spPr>
        <p:txBody>
          <a:bodyPr wrap="square" lIns="127508" tIns="85090" rIns="127508" bIns="0" rtlCol="0" anchor="t">
            <a:spAutoFit/>
          </a:bodyPr>
          <a:lstStyle/>
          <a:p>
            <a:pPr algn="l" indent="0" marL="0">
              <a:lnSpc>
                <a:spcPts val="900"/>
              </a:lnSpc>
              <a:buNone/>
            </a:pPr>
            <a:r>
              <a:rPr lang="en-US" sz="683" b="1" dirty="0">
                <a:solidFill>
                  <a:srgbClr val="FFFFFF"/>
                </a:solidFill>
              </a:rPr>
              <a:t>Çözüm Stratejisi</a:t>
            </a:r>
            <a:endParaRPr lang="en-US" sz="683" dirty="0"/>
          </a:p>
        </p:txBody>
      </p:sp>
      <p:sp>
        <p:nvSpPr>
          <p:cNvPr id="19" name="Text 16"/>
          <p:cNvSpPr/>
          <p:nvPr/>
        </p:nvSpPr>
        <p:spPr>
          <a:xfrm>
            <a:off x="5715000" y="2234208"/>
            <a:ext cx="3143250" cy="578644"/>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FFFFFF"/>
                </a:solidFill>
              </a:rPr>
              <a:t>Benign domainler üzerinden sistematik bir path uzatma stratejisi uygulanarak veri setinin yapısal dengesi korunmuştur.</a:t>
            </a:r>
            <a:endParaRPr lang="en-US" sz="942" dirty="0"/>
          </a:p>
        </p:txBody>
      </p:sp>
      <p:pic>
        <p:nvPicPr>
          <p:cNvPr id="20" name="Image 1" descr="preencoded.png">    </p:cNvPr>
          <p:cNvPicPr>
            <a:picLocks noChangeAspect="1"/>
          </p:cNvPicPr>
          <p:nvPr/>
        </p:nvPicPr>
        <p:blipFill>
          <a:blip r:embed="rId2"/>
          <a:stretch>
            <a:fillRect/>
          </a:stretch>
        </p:blipFill>
        <p:spPr>
          <a:xfrm>
            <a:off x="6136481" y="3241477"/>
            <a:ext cx="2300288" cy="1085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571500"/>
            <a:ext cx="8801100"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İki Katmanlı Path Uzatma Yöntemi ile Gerçekçi Veri Üretimi</a:t>
            </a:r>
            <a:endParaRPr lang="en-US" sz="2121" dirty="0"/>
          </a:p>
        </p:txBody>
      </p:sp>
      <p:sp>
        <p:nvSpPr>
          <p:cNvPr id="4" name="Text 1"/>
          <p:cNvSpPr/>
          <p:nvPr/>
        </p:nvSpPr>
        <p:spPr>
          <a:xfrm>
            <a:off x="557213" y="1503034"/>
            <a:ext cx="391477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5722"/>
                </a:solidFill>
              </a:rPr>
              <a:t>Aşama 01</a:t>
            </a:r>
            <a:endParaRPr lang="en-US" sz="683" dirty="0"/>
          </a:p>
        </p:txBody>
      </p:sp>
      <p:sp>
        <p:nvSpPr>
          <p:cNvPr id="5" name="Text 2"/>
          <p:cNvSpPr/>
          <p:nvPr/>
        </p:nvSpPr>
        <p:spPr>
          <a:xfrm>
            <a:off x="557213" y="1681628"/>
            <a:ext cx="39147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237E"/>
                </a:solidFill>
              </a:rPr>
              <a:t>Hiyerarşik Yapı Çıkarımı</a:t>
            </a:r>
            <a:endParaRPr lang="en-US" sz="1090" dirty="0"/>
          </a:p>
        </p:txBody>
      </p:sp>
      <p:sp>
        <p:nvSpPr>
          <p:cNvPr id="6" name="Text 3"/>
          <p:cNvSpPr/>
          <p:nvPr/>
        </p:nvSpPr>
        <p:spPr>
          <a:xfrm>
            <a:off x="557213" y="1953090"/>
            <a:ext cx="3914775"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Benign domainlerden sistematik olarak alt URL'ler çekilerek yapı genişletilmiştir. Bu, modellerin "kısa URL = güvenli" yanılgısına düşmesini engeller.</a:t>
            </a:r>
            <a:endParaRPr lang="en-US" sz="834" dirty="0"/>
          </a:p>
        </p:txBody>
      </p:sp>
      <p:sp>
        <p:nvSpPr>
          <p:cNvPr id="7" name="Text 4"/>
          <p:cNvSpPr/>
          <p:nvPr/>
        </p:nvSpPr>
        <p:spPr>
          <a:xfrm>
            <a:off x="557213" y="2667465"/>
            <a:ext cx="391477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5722"/>
                </a:solidFill>
              </a:rPr>
              <a:t>Aşama 02</a:t>
            </a:r>
            <a:endParaRPr lang="en-US" sz="683" dirty="0"/>
          </a:p>
        </p:txBody>
      </p:sp>
      <p:sp>
        <p:nvSpPr>
          <p:cNvPr id="8" name="Text 5"/>
          <p:cNvSpPr/>
          <p:nvPr/>
        </p:nvSpPr>
        <p:spPr>
          <a:xfrm>
            <a:off x="557213" y="2846059"/>
            <a:ext cx="39147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237E"/>
                </a:solidFill>
              </a:rPr>
              <a:t>Katmanlı Derinlik Artırımı</a:t>
            </a:r>
            <a:endParaRPr lang="en-US" sz="1090" dirty="0"/>
          </a:p>
        </p:txBody>
      </p:sp>
      <p:sp>
        <p:nvSpPr>
          <p:cNvPr id="9" name="Text 6"/>
          <p:cNvSpPr/>
          <p:nvPr/>
        </p:nvSpPr>
        <p:spPr>
          <a:xfrm>
            <a:off x="557213" y="3117521"/>
            <a:ext cx="3914775"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rPr>
              <a:t>Her domainden 5 adet gerçek alt URL (Katman 1) ve bu URL'lerin her birinden 8'er adet daha derin alt URL (Katman 2) elde edilmiştir.</a:t>
            </a:r>
            <a:endParaRPr lang="en-US" sz="834" dirty="0"/>
          </a:p>
        </p:txBody>
      </p:sp>
      <p:sp>
        <p:nvSpPr>
          <p:cNvPr id="10" name="Shape 7"/>
          <p:cNvSpPr/>
          <p:nvPr/>
        </p:nvSpPr>
        <p:spPr>
          <a:xfrm>
            <a:off x="4672013" y="1431596"/>
            <a:ext cx="4129088" cy="2157413"/>
          </a:xfrm>
          <a:prstGeom prst="rect">
            <a:avLst/>
          </a:prstGeom>
          <a:solidFill>
            <a:srgbClr val="1A237E"/>
          </a:solidFill>
          <a:ln/>
        </p:spPr>
      </p:sp>
      <p:sp>
        <p:nvSpPr>
          <p:cNvPr id="11" name="Text 8"/>
          <p:cNvSpPr/>
          <p:nvPr/>
        </p:nvSpPr>
        <p:spPr>
          <a:xfrm>
            <a:off x="4843463" y="1603046"/>
            <a:ext cx="3786188"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5722"/>
                </a:solidFill>
              </a:rPr>
              <a:t>%42</a:t>
            </a:r>
            <a:endParaRPr lang="en-US" sz="2436" dirty="0"/>
          </a:p>
        </p:txBody>
      </p:sp>
      <p:sp>
        <p:nvSpPr>
          <p:cNvPr id="12" name="Text 9"/>
          <p:cNvSpPr/>
          <p:nvPr/>
        </p:nvSpPr>
        <p:spPr>
          <a:xfrm>
            <a:off x="4843463" y="2069176"/>
            <a:ext cx="3786188" cy="175022"/>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FFFFFF"/>
                </a:solidFill>
              </a:rPr>
              <a:t>Phishing Oranı</a:t>
            </a:r>
            <a:endParaRPr lang="en-US" sz="942" dirty="0"/>
          </a:p>
        </p:txBody>
      </p:sp>
      <p:sp>
        <p:nvSpPr>
          <p:cNvPr id="13" name="Text 10"/>
          <p:cNvSpPr/>
          <p:nvPr/>
        </p:nvSpPr>
        <p:spPr>
          <a:xfrm>
            <a:off x="4843463" y="2387073"/>
            <a:ext cx="3786188"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5722"/>
                </a:solidFill>
              </a:rPr>
              <a:t>%58</a:t>
            </a:r>
            <a:endParaRPr lang="en-US" sz="2436" dirty="0"/>
          </a:p>
        </p:txBody>
      </p:sp>
      <p:sp>
        <p:nvSpPr>
          <p:cNvPr id="14" name="Text 11"/>
          <p:cNvSpPr/>
          <p:nvPr/>
        </p:nvSpPr>
        <p:spPr>
          <a:xfrm>
            <a:off x="4843463" y="2853203"/>
            <a:ext cx="3786188" cy="175022"/>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FFFFFF"/>
                </a:solidFill>
              </a:rPr>
              <a:t>Benign Oranı</a:t>
            </a:r>
            <a:endParaRPr lang="en-US" sz="942" dirty="0"/>
          </a:p>
        </p:txBody>
      </p:sp>
      <p:sp>
        <p:nvSpPr>
          <p:cNvPr id="15" name="Text 12"/>
          <p:cNvSpPr/>
          <p:nvPr/>
        </p:nvSpPr>
        <p:spPr>
          <a:xfrm>
            <a:off x="4843463" y="3171099"/>
            <a:ext cx="3786188" cy="271463"/>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FFFFFF">
                    <a:alpha val="85000"/>
                  </a:srgbClr>
                </a:solidFill>
              </a:rPr>
              <a:t>Gerçek dünya senaryolarını yansıtan dengeli ve yapısal olarak zenginleştirilmiş veri seti dağılımı.</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42925"/>
            <a:ext cx="8715375"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Özellik Mühendisliği: 1075 Boyutlu Zengin Veri Temsili</a:t>
            </a:r>
            <a:endParaRPr lang="en-US" sz="2121" dirty="0"/>
          </a:p>
        </p:txBody>
      </p:sp>
      <p:sp>
        <p:nvSpPr>
          <p:cNvPr id="4" name="Text 1"/>
          <p:cNvSpPr/>
          <p:nvPr/>
        </p:nvSpPr>
        <p:spPr>
          <a:xfrm>
            <a:off x="428625" y="1374446"/>
            <a:ext cx="2007394"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5722"/>
                </a:solidFill>
              </a:rPr>
              <a:t>53</a:t>
            </a:r>
            <a:endParaRPr lang="en-US" sz="2436" dirty="0"/>
          </a:p>
        </p:txBody>
      </p:sp>
      <p:sp>
        <p:nvSpPr>
          <p:cNvPr id="5" name="Text 2"/>
          <p:cNvSpPr/>
          <p:nvPr/>
        </p:nvSpPr>
        <p:spPr>
          <a:xfrm>
            <a:off x="428625" y="1883439"/>
            <a:ext cx="2007394" cy="194667"/>
          </a:xfrm>
          <a:prstGeom prst="rect">
            <a:avLst/>
          </a:prstGeom>
          <a:noFill/>
          <a:ln/>
        </p:spPr>
        <p:txBody>
          <a:bodyPr wrap="none" lIns="0" tIns="0" rIns="0" bIns="0" rtlCol="0" anchor="t">
            <a:spAutoFit/>
          </a:bodyPr>
          <a:lstStyle/>
          <a:p>
            <a:pPr algn="l" indent="0" marL="0">
              <a:lnSpc>
                <a:spcPts val="1400"/>
              </a:lnSpc>
              <a:buNone/>
            </a:pPr>
            <a:r>
              <a:rPr lang="en-US" sz="987" b="1" spc="1" kern="0" dirty="0">
                <a:solidFill>
                  <a:srgbClr val="1A237E"/>
                </a:solidFill>
              </a:rPr>
              <a:t>Lexical</a:t>
            </a:r>
            <a:endParaRPr lang="en-US" sz="987" dirty="0"/>
          </a:p>
        </p:txBody>
      </p:sp>
      <p:sp>
        <p:nvSpPr>
          <p:cNvPr id="6" name="Text 3"/>
          <p:cNvSpPr/>
          <p:nvPr/>
        </p:nvSpPr>
        <p:spPr>
          <a:xfrm>
            <a:off x="428625" y="2106681"/>
            <a:ext cx="2007394" cy="375047"/>
          </a:xfrm>
          <a:prstGeom prst="rect">
            <a:avLst/>
          </a:prstGeom>
          <a:noFill/>
          <a:ln/>
        </p:spPr>
        <p:txBody>
          <a:bodyPr wrap="square" lIns="0" tIns="0" rIns="0" bIns="0" rtlCol="0" anchor="t">
            <a:spAutoFit/>
          </a:bodyPr>
          <a:lstStyle/>
          <a:p>
            <a:pPr algn="l" indent="0" marL="0">
              <a:lnSpc>
                <a:spcPts val="1000"/>
              </a:lnSpc>
              <a:buNone/>
            </a:pPr>
            <a:r>
              <a:rPr lang="en-US" sz="727" dirty="0">
                <a:solidFill>
                  <a:srgbClr val="333333"/>
                </a:solidFill>
              </a:rPr>
              <a:t>URL uzunluğu, özel karakter sayısı, alt alan adı sayısı, path derinliği ve numerik karakter oranları gibi sözcüksel veriler.</a:t>
            </a:r>
            <a:endParaRPr lang="en-US" sz="727" dirty="0"/>
          </a:p>
        </p:txBody>
      </p:sp>
      <p:sp>
        <p:nvSpPr>
          <p:cNvPr id="7" name="Text 4"/>
          <p:cNvSpPr/>
          <p:nvPr/>
        </p:nvSpPr>
        <p:spPr>
          <a:xfrm>
            <a:off x="2521744" y="1374446"/>
            <a:ext cx="2007394"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5722"/>
                </a:solidFill>
              </a:rPr>
              <a:t>09</a:t>
            </a:r>
            <a:endParaRPr lang="en-US" sz="2436" dirty="0"/>
          </a:p>
        </p:txBody>
      </p:sp>
      <p:sp>
        <p:nvSpPr>
          <p:cNvPr id="8" name="Text 5"/>
          <p:cNvSpPr/>
          <p:nvPr/>
        </p:nvSpPr>
        <p:spPr>
          <a:xfrm>
            <a:off x="2521744" y="1883439"/>
            <a:ext cx="2007394" cy="194667"/>
          </a:xfrm>
          <a:prstGeom prst="rect">
            <a:avLst/>
          </a:prstGeom>
          <a:noFill/>
          <a:ln/>
        </p:spPr>
        <p:txBody>
          <a:bodyPr wrap="none" lIns="0" tIns="0" rIns="0" bIns="0" rtlCol="0" anchor="t">
            <a:spAutoFit/>
          </a:bodyPr>
          <a:lstStyle/>
          <a:p>
            <a:pPr algn="l" indent="0" marL="0">
              <a:lnSpc>
                <a:spcPts val="1400"/>
              </a:lnSpc>
              <a:buNone/>
            </a:pPr>
            <a:r>
              <a:rPr lang="en-US" sz="987" b="1" spc="1" kern="0" dirty="0">
                <a:solidFill>
                  <a:srgbClr val="1A237E"/>
                </a:solidFill>
              </a:rPr>
              <a:t>DNS</a:t>
            </a:r>
            <a:endParaRPr lang="en-US" sz="987" dirty="0"/>
          </a:p>
        </p:txBody>
      </p:sp>
      <p:sp>
        <p:nvSpPr>
          <p:cNvPr id="9" name="Text 6"/>
          <p:cNvSpPr/>
          <p:nvPr/>
        </p:nvSpPr>
        <p:spPr>
          <a:xfrm>
            <a:off x="2521744" y="2106681"/>
            <a:ext cx="2007394" cy="375047"/>
          </a:xfrm>
          <a:prstGeom prst="rect">
            <a:avLst/>
          </a:prstGeom>
          <a:noFill/>
          <a:ln/>
        </p:spPr>
        <p:txBody>
          <a:bodyPr wrap="square" lIns="0" tIns="0" rIns="0" bIns="0" rtlCol="0" anchor="t">
            <a:spAutoFit/>
          </a:bodyPr>
          <a:lstStyle/>
          <a:p>
            <a:pPr algn="l" indent="0" marL="0">
              <a:lnSpc>
                <a:spcPts val="1000"/>
              </a:lnSpc>
              <a:buNone/>
            </a:pPr>
            <a:r>
              <a:rPr lang="en-US" sz="727" dirty="0">
                <a:solidFill>
                  <a:srgbClr val="333333"/>
                </a:solidFill>
              </a:rPr>
              <a:t>TTL değerleri, A/MX kayıt sayıları, IP adresi eşleşmeleri ve alan adı çözünürlük hızı gibi ağ tabanlı veriler.</a:t>
            </a:r>
            <a:endParaRPr lang="en-US" sz="727" dirty="0"/>
          </a:p>
        </p:txBody>
      </p:sp>
      <p:sp>
        <p:nvSpPr>
          <p:cNvPr id="10" name="Text 7"/>
          <p:cNvSpPr/>
          <p:nvPr/>
        </p:nvSpPr>
        <p:spPr>
          <a:xfrm>
            <a:off x="4614863" y="1374446"/>
            <a:ext cx="2007394"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5722"/>
                </a:solidFill>
              </a:rPr>
              <a:t>12</a:t>
            </a:r>
            <a:endParaRPr lang="en-US" sz="2436" dirty="0"/>
          </a:p>
        </p:txBody>
      </p:sp>
      <p:sp>
        <p:nvSpPr>
          <p:cNvPr id="11" name="Text 8"/>
          <p:cNvSpPr/>
          <p:nvPr/>
        </p:nvSpPr>
        <p:spPr>
          <a:xfrm>
            <a:off x="4614863" y="1883439"/>
            <a:ext cx="2007394" cy="194667"/>
          </a:xfrm>
          <a:prstGeom prst="rect">
            <a:avLst/>
          </a:prstGeom>
          <a:noFill/>
          <a:ln/>
        </p:spPr>
        <p:txBody>
          <a:bodyPr wrap="none" lIns="0" tIns="0" rIns="0" bIns="0" rtlCol="0" anchor="t">
            <a:spAutoFit/>
          </a:bodyPr>
          <a:lstStyle/>
          <a:p>
            <a:pPr algn="l" indent="0" marL="0">
              <a:lnSpc>
                <a:spcPts val="1400"/>
              </a:lnSpc>
              <a:buNone/>
            </a:pPr>
            <a:r>
              <a:rPr lang="en-US" sz="987" b="1" spc="1" kern="0" dirty="0">
                <a:solidFill>
                  <a:srgbClr val="1A237E"/>
                </a:solidFill>
              </a:rPr>
              <a:t>WHOIS</a:t>
            </a:r>
            <a:endParaRPr lang="en-US" sz="987" dirty="0"/>
          </a:p>
        </p:txBody>
      </p:sp>
      <p:sp>
        <p:nvSpPr>
          <p:cNvPr id="12" name="Text 9"/>
          <p:cNvSpPr/>
          <p:nvPr/>
        </p:nvSpPr>
        <p:spPr>
          <a:xfrm>
            <a:off x="4614863" y="2106681"/>
            <a:ext cx="2007394" cy="375047"/>
          </a:xfrm>
          <a:prstGeom prst="rect">
            <a:avLst/>
          </a:prstGeom>
          <a:noFill/>
          <a:ln/>
        </p:spPr>
        <p:txBody>
          <a:bodyPr wrap="square" lIns="0" tIns="0" rIns="0" bIns="0" rtlCol="0" anchor="t">
            <a:spAutoFit/>
          </a:bodyPr>
          <a:lstStyle/>
          <a:p>
            <a:pPr algn="l" indent="0" marL="0">
              <a:lnSpc>
                <a:spcPts val="1000"/>
              </a:lnSpc>
              <a:buNone/>
            </a:pPr>
            <a:r>
              <a:rPr lang="en-US" sz="727" dirty="0">
                <a:solidFill>
                  <a:srgbClr val="333333"/>
                </a:solidFill>
              </a:rPr>
              <a:t>Alan adı yaşı, kayıt süresi, güncellenme sıklığı ve kayıt kuruluşu bilgileri gibi sahiplik verileri.</a:t>
            </a:r>
            <a:endParaRPr lang="en-US" sz="727" dirty="0"/>
          </a:p>
        </p:txBody>
      </p:sp>
      <p:sp>
        <p:nvSpPr>
          <p:cNvPr id="13" name="Text 10"/>
          <p:cNvSpPr/>
          <p:nvPr/>
        </p:nvSpPr>
        <p:spPr>
          <a:xfrm>
            <a:off x="6707981" y="1374446"/>
            <a:ext cx="2007394"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5722"/>
                </a:solidFill>
              </a:rPr>
              <a:t>1000</a:t>
            </a:r>
            <a:endParaRPr lang="en-US" sz="2436" dirty="0"/>
          </a:p>
        </p:txBody>
      </p:sp>
      <p:sp>
        <p:nvSpPr>
          <p:cNvPr id="14" name="Text 11"/>
          <p:cNvSpPr/>
          <p:nvPr/>
        </p:nvSpPr>
        <p:spPr>
          <a:xfrm>
            <a:off x="6707981" y="1883439"/>
            <a:ext cx="2007394" cy="194667"/>
          </a:xfrm>
          <a:prstGeom prst="rect">
            <a:avLst/>
          </a:prstGeom>
          <a:noFill/>
          <a:ln/>
        </p:spPr>
        <p:txBody>
          <a:bodyPr wrap="none" lIns="0" tIns="0" rIns="0" bIns="0" rtlCol="0" anchor="t">
            <a:spAutoFit/>
          </a:bodyPr>
          <a:lstStyle/>
          <a:p>
            <a:pPr algn="l" indent="0" marL="0">
              <a:lnSpc>
                <a:spcPts val="1400"/>
              </a:lnSpc>
              <a:buNone/>
            </a:pPr>
            <a:r>
              <a:rPr lang="en-US" sz="987" b="1" spc="1" kern="0" dirty="0">
                <a:solidFill>
                  <a:srgbClr val="1A237E"/>
                </a:solidFill>
              </a:rPr>
              <a:t>TF-IDF</a:t>
            </a:r>
            <a:endParaRPr lang="en-US" sz="987" dirty="0"/>
          </a:p>
        </p:txBody>
      </p:sp>
      <p:sp>
        <p:nvSpPr>
          <p:cNvPr id="15" name="Text 12"/>
          <p:cNvSpPr/>
          <p:nvPr/>
        </p:nvSpPr>
        <p:spPr>
          <a:xfrm>
            <a:off x="6707981" y="2106681"/>
            <a:ext cx="2007394" cy="375047"/>
          </a:xfrm>
          <a:prstGeom prst="rect">
            <a:avLst/>
          </a:prstGeom>
          <a:noFill/>
          <a:ln/>
        </p:spPr>
        <p:txBody>
          <a:bodyPr wrap="square" lIns="0" tIns="0" rIns="0" bIns="0" rtlCol="0" anchor="t">
            <a:spAutoFit/>
          </a:bodyPr>
          <a:lstStyle/>
          <a:p>
            <a:pPr algn="l" indent="0" marL="0">
              <a:lnSpc>
                <a:spcPts val="1000"/>
              </a:lnSpc>
              <a:buNone/>
            </a:pPr>
            <a:r>
              <a:rPr lang="en-US" sz="727" dirty="0">
                <a:solidFill>
                  <a:srgbClr val="333333"/>
                </a:solidFill>
              </a:rPr>
              <a:t>URL path ve query kısımları üzerinden yapılan metin tabanlı anlamsal çıkarım analizi.</a:t>
            </a:r>
            <a:endParaRPr lang="en-US" sz="727" dirty="0"/>
          </a:p>
        </p:txBody>
      </p:sp>
      <p:sp>
        <p:nvSpPr>
          <p:cNvPr id="16" name="Shape 13"/>
          <p:cNvSpPr/>
          <p:nvPr/>
        </p:nvSpPr>
        <p:spPr>
          <a:xfrm>
            <a:off x="428625" y="2624603"/>
            <a:ext cx="8286750" cy="766167"/>
          </a:xfrm>
          <a:prstGeom prst="rect">
            <a:avLst/>
          </a:prstGeom>
          <a:solidFill>
            <a:srgbClr val="1A237E"/>
          </a:solidFill>
          <a:ln/>
        </p:spPr>
      </p:sp>
      <p:sp>
        <p:nvSpPr>
          <p:cNvPr id="17" name="Text 14"/>
          <p:cNvSpPr/>
          <p:nvPr/>
        </p:nvSpPr>
        <p:spPr>
          <a:xfrm>
            <a:off x="657225" y="2890707"/>
            <a:ext cx="2243947" cy="233958"/>
          </a:xfrm>
          <a:prstGeom prst="rect">
            <a:avLst/>
          </a:prstGeom>
          <a:noFill/>
          <a:ln/>
        </p:spPr>
        <p:txBody>
          <a:bodyPr wrap="none" lIns="0" tIns="0" rIns="0" bIns="0" rtlCol="0" anchor="t">
            <a:spAutoFit/>
          </a:bodyPr>
          <a:lstStyle/>
          <a:p>
            <a:pPr algn="l" indent="0" marL="0">
              <a:lnSpc>
                <a:spcPts val="1600"/>
              </a:lnSpc>
              <a:buNone/>
            </a:pPr>
            <a:r>
              <a:rPr lang="en-US" sz="1269" spc="2" kern="0" dirty="0">
                <a:solidFill>
                  <a:srgbClr val="FFFFFF"/>
                </a:solidFill>
              </a:rPr>
              <a:t>Toplam Özellik Sayısı</a:t>
            </a:r>
            <a:endParaRPr lang="en-US" sz="1269" dirty="0"/>
          </a:p>
        </p:txBody>
      </p:sp>
      <p:sp>
        <p:nvSpPr>
          <p:cNvPr id="18" name="Text 15"/>
          <p:cNvSpPr/>
          <p:nvPr/>
        </p:nvSpPr>
        <p:spPr>
          <a:xfrm>
            <a:off x="3015472" y="2696040"/>
            <a:ext cx="1046085" cy="623292"/>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F5722"/>
                </a:solidFill>
              </a:rPr>
              <a:t>1075</a:t>
            </a:r>
            <a:endParaRPr lang="en-US" sz="329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734802"/>
            <a:ext cx="5057775"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Makine Öğrenmesi Modelleri Hiyerarşisi</a:t>
            </a:r>
            <a:endParaRPr lang="en-US" sz="2121" dirty="0"/>
          </a:p>
        </p:txBody>
      </p:sp>
      <p:sp>
        <p:nvSpPr>
          <p:cNvPr id="4" name="Text 1"/>
          <p:cNvSpPr/>
          <p:nvPr/>
        </p:nvSpPr>
        <p:spPr>
          <a:xfrm>
            <a:off x="428625" y="1873504"/>
            <a:ext cx="245745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5722"/>
                </a:solidFill>
              </a:rPr>
              <a:t>Klasik Modeller</a:t>
            </a:r>
            <a:endParaRPr lang="en-US" sz="885" dirty="0"/>
          </a:p>
        </p:txBody>
      </p:sp>
      <p:sp>
        <p:nvSpPr>
          <p:cNvPr id="5" name="Text 2"/>
          <p:cNvSpPr/>
          <p:nvPr/>
        </p:nvSpPr>
        <p:spPr>
          <a:xfrm>
            <a:off x="714375" y="2162826"/>
            <a:ext cx="2171700"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Lojistik Regresyon</a:t>
            </a:r>
            <a:endParaRPr lang="en-US" sz="784" dirty="0"/>
          </a:p>
        </p:txBody>
      </p:sp>
      <p:sp>
        <p:nvSpPr>
          <p:cNvPr id="6" name="Text 3"/>
          <p:cNvSpPr/>
          <p:nvPr/>
        </p:nvSpPr>
        <p:spPr>
          <a:xfrm>
            <a:off x="714375" y="2368544"/>
            <a:ext cx="2171700"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KNN (K-En Yakın Komşu)</a:t>
            </a:r>
            <a:endParaRPr lang="en-US" sz="784" dirty="0"/>
          </a:p>
        </p:txBody>
      </p:sp>
      <p:sp>
        <p:nvSpPr>
          <p:cNvPr id="7" name="Text 4"/>
          <p:cNvSpPr/>
          <p:nvPr/>
        </p:nvSpPr>
        <p:spPr>
          <a:xfrm>
            <a:off x="3028950" y="1873504"/>
            <a:ext cx="245745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5722"/>
                </a:solidFill>
              </a:rPr>
              <a:t>Ağaç Tabanlı</a:t>
            </a:r>
            <a:endParaRPr lang="en-US" sz="885" dirty="0"/>
          </a:p>
        </p:txBody>
      </p:sp>
      <p:sp>
        <p:nvSpPr>
          <p:cNvPr id="8" name="Text 5"/>
          <p:cNvSpPr/>
          <p:nvPr/>
        </p:nvSpPr>
        <p:spPr>
          <a:xfrm>
            <a:off x="3314700" y="2162826"/>
            <a:ext cx="2171700"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Decision Tree</a:t>
            </a:r>
            <a:endParaRPr lang="en-US" sz="784" dirty="0"/>
          </a:p>
        </p:txBody>
      </p:sp>
      <p:sp>
        <p:nvSpPr>
          <p:cNvPr id="9" name="Text 6"/>
          <p:cNvSpPr/>
          <p:nvPr/>
        </p:nvSpPr>
        <p:spPr>
          <a:xfrm>
            <a:off x="3314700" y="2368544"/>
            <a:ext cx="2171700"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Random Forest</a:t>
            </a:r>
            <a:endParaRPr lang="en-US" sz="784" dirty="0"/>
          </a:p>
        </p:txBody>
      </p:sp>
      <p:sp>
        <p:nvSpPr>
          <p:cNvPr id="10" name="Text 7"/>
          <p:cNvSpPr/>
          <p:nvPr/>
        </p:nvSpPr>
        <p:spPr>
          <a:xfrm>
            <a:off x="428625" y="3095755"/>
            <a:ext cx="505777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5722"/>
                </a:solidFill>
              </a:rPr>
              <a:t>Topluluk (Ensemble) Modelleri</a:t>
            </a:r>
            <a:endParaRPr lang="en-US" sz="885" dirty="0"/>
          </a:p>
        </p:txBody>
      </p:sp>
      <p:sp>
        <p:nvSpPr>
          <p:cNvPr id="11" name="Text 8"/>
          <p:cNvSpPr/>
          <p:nvPr/>
        </p:nvSpPr>
        <p:spPr>
          <a:xfrm>
            <a:off x="714375" y="3385077"/>
            <a:ext cx="2386013"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XGBoost</a:t>
            </a:r>
            <a:endParaRPr lang="en-US" sz="784" dirty="0"/>
          </a:p>
        </p:txBody>
      </p:sp>
      <p:sp>
        <p:nvSpPr>
          <p:cNvPr id="12" name="Text 9"/>
          <p:cNvSpPr/>
          <p:nvPr/>
        </p:nvSpPr>
        <p:spPr>
          <a:xfrm>
            <a:off x="3100388" y="3385077"/>
            <a:ext cx="2386013"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LightGBM</a:t>
            </a:r>
            <a:endParaRPr lang="en-US" sz="784" dirty="0"/>
          </a:p>
        </p:txBody>
      </p:sp>
      <p:sp>
        <p:nvSpPr>
          <p:cNvPr id="13" name="Text 10"/>
          <p:cNvSpPr/>
          <p:nvPr/>
        </p:nvSpPr>
        <p:spPr>
          <a:xfrm>
            <a:off x="714375" y="3590795"/>
            <a:ext cx="2386013"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CatBoost</a:t>
            </a:r>
            <a:endParaRPr lang="en-US" sz="784" dirty="0"/>
          </a:p>
        </p:txBody>
      </p:sp>
      <p:sp>
        <p:nvSpPr>
          <p:cNvPr id="14" name="Text 11"/>
          <p:cNvSpPr/>
          <p:nvPr/>
        </p:nvSpPr>
        <p:spPr>
          <a:xfrm>
            <a:off x="3100388" y="3590795"/>
            <a:ext cx="2386013"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333333"/>
                </a:solidFill>
              </a:rPr>
              <a:t>Gradient Boosting</a:t>
            </a:r>
            <a:endParaRPr lang="en-US" sz="784" dirty="0"/>
          </a:p>
        </p:txBody>
      </p:sp>
      <p:sp>
        <p:nvSpPr>
          <p:cNvPr id="15" name="Text 12"/>
          <p:cNvSpPr/>
          <p:nvPr/>
        </p:nvSpPr>
        <p:spPr>
          <a:xfrm>
            <a:off x="428625" y="4125125"/>
            <a:ext cx="5057775" cy="342900"/>
          </a:xfrm>
          <a:prstGeom prst="rect">
            <a:avLst/>
          </a:prstGeom>
          <a:noFill/>
          <a:ln/>
        </p:spPr>
        <p:txBody>
          <a:bodyPr wrap="square" lIns="127508" tIns="0" rIns="0" bIns="0" rtlCol="0" anchor="t">
            <a:spAutoFit/>
          </a:bodyPr>
          <a:lstStyle/>
          <a:p>
            <a:pPr algn="l" indent="0" marL="0">
              <a:lnSpc>
                <a:spcPts val="1400"/>
              </a:lnSpc>
              <a:buNone/>
            </a:pPr>
            <a:r>
              <a:rPr lang="en-US" sz="834" dirty="0">
                <a:solidFill>
                  <a:srgbClr val="333333"/>
                </a:solidFill>
              </a:rPr>
              <a:t>En yüksek performans, verideki karmaşık ilişkileri daha iyi yakalayan ve operasyonel verimlilik sunan boosting algoritmaları ile elde edilmiştir.</a:t>
            </a:r>
            <a:endParaRPr lang="en-US" sz="834" dirty="0"/>
          </a:p>
        </p:txBody>
      </p:sp>
      <p:sp>
        <p:nvSpPr>
          <p:cNvPr id="16" name="Shape 13"/>
          <p:cNvSpPr/>
          <p:nvPr/>
        </p:nvSpPr>
        <p:spPr>
          <a:xfrm>
            <a:off x="5772150" y="0"/>
            <a:ext cx="3371850" cy="5143500"/>
          </a:xfrm>
          <a:prstGeom prst="rect">
            <a:avLst/>
          </a:prstGeom>
          <a:solidFill>
            <a:srgbClr val="F5F5F5"/>
          </a:solidFill>
          <a:ln/>
        </p:spPr>
      </p:sp>
      <p:sp>
        <p:nvSpPr>
          <p:cNvPr id="17" name="Shape 14"/>
          <p:cNvSpPr/>
          <p:nvPr/>
        </p:nvSpPr>
        <p:spPr>
          <a:xfrm>
            <a:off x="5886450" y="1360884"/>
            <a:ext cx="3143250" cy="2143125"/>
          </a:xfrm>
          <a:prstGeom prst="rect">
            <a:avLst/>
          </a:prstGeom>
          <a:solidFill>
            <a:srgbClr val="FFFFFF"/>
          </a:solidFill>
          <a:ln/>
        </p:spPr>
      </p:sp>
      <p:pic>
        <p:nvPicPr>
          <p:cNvPr id="18" name="Image 1" descr="preencoded.png">    </p:cNvPr>
          <p:cNvPicPr>
            <a:picLocks noChangeAspect="1"/>
          </p:cNvPicPr>
          <p:nvPr/>
        </p:nvPicPr>
        <p:blipFill>
          <a:blip r:embed="rId2"/>
          <a:stretch>
            <a:fillRect/>
          </a:stretch>
        </p:blipFill>
        <p:spPr>
          <a:xfrm>
            <a:off x="6029325" y="1503759"/>
            <a:ext cx="2857500" cy="1857375"/>
          </a:xfrm>
          <a:prstGeom prst="rect">
            <a:avLst/>
          </a:prstGeom>
        </p:spPr>
      </p:pic>
      <p:sp>
        <p:nvSpPr>
          <p:cNvPr id="19" name="Text 15"/>
          <p:cNvSpPr/>
          <p:nvPr/>
        </p:nvSpPr>
        <p:spPr>
          <a:xfrm>
            <a:off x="6611094" y="3646884"/>
            <a:ext cx="1693934" cy="135731"/>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666666"/>
                </a:solidFill>
              </a:rPr>
              <a:t>Model Mimarisi ve Veri Akışı</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711082"/>
            <a:ext cx="5107781" cy="597173"/>
          </a:xfrm>
          <a:prstGeom prst="rect">
            <a:avLst/>
          </a:prstGeom>
          <a:noFill/>
          <a:ln/>
        </p:spPr>
        <p:txBody>
          <a:bodyPr wrap="square" lIns="0" tIns="0" rIns="0" bIns="0" rtlCol="0" anchor="t">
            <a:spAutoFit/>
          </a:bodyPr>
          <a:lstStyle/>
          <a:p>
            <a:pPr algn="l" indent="0" marL="0">
              <a:lnSpc>
                <a:spcPts val="2400"/>
              </a:lnSpc>
              <a:buNone/>
            </a:pPr>
            <a:r>
              <a:rPr lang="en-US" sz="1912" b="1" dirty="0">
                <a:solidFill>
                  <a:srgbClr val="1A237E"/>
                </a:solidFill>
              </a:rPr>
              <a:t>Özellik Gruplarının Model Performansına Etkisi</a:t>
            </a:r>
            <a:endParaRPr lang="en-US" sz="1912" dirty="0"/>
          </a:p>
        </p:txBody>
      </p:sp>
      <p:sp>
        <p:nvSpPr>
          <p:cNvPr id="4" name="Text 1"/>
          <p:cNvSpPr/>
          <p:nvPr/>
        </p:nvSpPr>
        <p:spPr>
          <a:xfrm>
            <a:off x="428625" y="1522568"/>
            <a:ext cx="2460408" cy="201811"/>
          </a:xfrm>
          <a:prstGeom prst="rect">
            <a:avLst/>
          </a:prstGeom>
          <a:noFill/>
          <a:ln/>
        </p:spPr>
        <p:txBody>
          <a:bodyPr wrap="square" lIns="8509" tIns="8509" rIns="8509" bIns="85090" rtlCol="0" anchor="ctr">
            <a:spAutoFit/>
          </a:bodyPr>
          <a:lstStyle/>
          <a:p>
            <a:pPr algn="l" indent="0" marL="0">
              <a:lnSpc>
                <a:spcPts val="800"/>
              </a:lnSpc>
              <a:buNone/>
            </a:pPr>
            <a:r>
              <a:rPr lang="en-US" sz="584" b="1" dirty="0">
                <a:solidFill>
                  <a:srgbClr val="FF5722"/>
                </a:solidFill>
              </a:rPr>
              <a:t>Feature Kombinasyonu</a:t>
            </a:r>
            <a:endParaRPr lang="en-US" sz="584" dirty="0"/>
          </a:p>
        </p:txBody>
      </p:sp>
      <p:sp>
        <p:nvSpPr>
          <p:cNvPr id="5" name="Text 2"/>
          <p:cNvSpPr/>
          <p:nvPr/>
        </p:nvSpPr>
        <p:spPr>
          <a:xfrm>
            <a:off x="2889033" y="1522568"/>
            <a:ext cx="1270415" cy="201811"/>
          </a:xfrm>
          <a:prstGeom prst="rect">
            <a:avLst/>
          </a:prstGeom>
          <a:noFill/>
          <a:ln/>
        </p:spPr>
        <p:txBody>
          <a:bodyPr wrap="square" lIns="8509" tIns="8509" rIns="8509" bIns="85090" rtlCol="0" anchor="ctr">
            <a:spAutoFit/>
          </a:bodyPr>
          <a:lstStyle/>
          <a:p>
            <a:pPr algn="ctr" indent="0" marL="0">
              <a:lnSpc>
                <a:spcPts val="800"/>
              </a:lnSpc>
              <a:buNone/>
            </a:pPr>
            <a:r>
              <a:rPr lang="en-US" sz="584" b="1" dirty="0">
                <a:solidFill>
                  <a:srgbClr val="FF5722"/>
                </a:solidFill>
              </a:rPr>
              <a:t>Ort. F1-Score</a:t>
            </a:r>
            <a:endParaRPr lang="en-US" sz="584" dirty="0"/>
          </a:p>
        </p:txBody>
      </p:sp>
      <p:sp>
        <p:nvSpPr>
          <p:cNvPr id="6" name="Text 3"/>
          <p:cNvSpPr/>
          <p:nvPr/>
        </p:nvSpPr>
        <p:spPr>
          <a:xfrm>
            <a:off x="4159448" y="1522568"/>
            <a:ext cx="1376958" cy="201811"/>
          </a:xfrm>
          <a:prstGeom prst="rect">
            <a:avLst/>
          </a:prstGeom>
          <a:noFill/>
          <a:ln/>
        </p:spPr>
        <p:txBody>
          <a:bodyPr wrap="square" lIns="8509" tIns="8509" rIns="8509" bIns="85090" rtlCol="0" anchor="ctr">
            <a:spAutoFit/>
          </a:bodyPr>
          <a:lstStyle/>
          <a:p>
            <a:pPr algn="r" indent="0" marL="0">
              <a:lnSpc>
                <a:spcPts val="800"/>
              </a:lnSpc>
              <a:buNone/>
            </a:pPr>
            <a:r>
              <a:rPr lang="en-US" sz="584" b="1" dirty="0">
                <a:solidFill>
                  <a:srgbClr val="FF5722"/>
                </a:solidFill>
              </a:rPr>
              <a:t>ΔF1 (Referans)</a:t>
            </a:r>
            <a:endParaRPr lang="en-US" sz="584" dirty="0"/>
          </a:p>
        </p:txBody>
      </p:sp>
      <p:sp>
        <p:nvSpPr>
          <p:cNvPr id="7" name="Text 4"/>
          <p:cNvSpPr/>
          <p:nvPr/>
        </p:nvSpPr>
        <p:spPr>
          <a:xfrm>
            <a:off x="435769" y="1817247"/>
            <a:ext cx="1199955"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000000"/>
                </a:solidFill>
              </a:rPr>
              <a:t>Lexical + DNS + WHOIS</a:t>
            </a:r>
            <a:endParaRPr lang="en-US" sz="734" dirty="0"/>
          </a:p>
        </p:txBody>
      </p:sp>
      <p:sp>
        <p:nvSpPr>
          <p:cNvPr id="8" name="Text 5"/>
          <p:cNvSpPr/>
          <p:nvPr/>
        </p:nvSpPr>
        <p:spPr>
          <a:xfrm>
            <a:off x="2889033" y="1724378"/>
            <a:ext cx="1270415" cy="328613"/>
          </a:xfrm>
          <a:prstGeom prst="rect">
            <a:avLst/>
          </a:prstGeom>
          <a:noFill/>
          <a:ln/>
        </p:spPr>
        <p:txBody>
          <a:bodyPr wrap="square" lIns="8509" tIns="102108" rIns="8509" bIns="102108" rtlCol="0" anchor="ctr">
            <a:spAutoFit/>
          </a:bodyPr>
          <a:lstStyle/>
          <a:p>
            <a:pPr algn="ctr" indent="0" marL="0">
              <a:lnSpc>
                <a:spcPts val="1000"/>
              </a:lnSpc>
              <a:buNone/>
            </a:pPr>
            <a:r>
              <a:rPr lang="en-US" sz="734" b="1" dirty="0">
                <a:solidFill>
                  <a:srgbClr val="1A237E"/>
                </a:solidFill>
              </a:rPr>
              <a:t>0.975</a:t>
            </a:r>
            <a:endParaRPr lang="en-US" sz="734" dirty="0"/>
          </a:p>
        </p:txBody>
      </p:sp>
      <p:sp>
        <p:nvSpPr>
          <p:cNvPr id="9" name="Text 6"/>
          <p:cNvSpPr/>
          <p:nvPr/>
        </p:nvSpPr>
        <p:spPr>
          <a:xfrm>
            <a:off x="5074853" y="1817247"/>
            <a:ext cx="242301" cy="146447"/>
          </a:xfrm>
          <a:prstGeom prst="rect">
            <a:avLst/>
          </a:prstGeom>
          <a:noFill/>
          <a:ln/>
        </p:spPr>
        <p:txBody>
          <a:bodyPr wrap="none" lIns="0" tIns="0" rIns="0" bIns="0" rtlCol="0" anchor="t">
            <a:spAutoFit/>
          </a:bodyPr>
          <a:lstStyle/>
          <a:p>
            <a:pPr algn="r" indent="0" marL="0">
              <a:lnSpc>
                <a:spcPts val="1000"/>
              </a:lnSpc>
              <a:buNone/>
            </a:pPr>
            <a:r>
              <a:rPr lang="en-US" sz="734" b="1" dirty="0">
                <a:solidFill>
                  <a:srgbClr val="FF5722"/>
                </a:solidFill>
              </a:rPr>
              <a:t>0.00</a:t>
            </a:r>
            <a:endParaRPr lang="en-US" sz="734" dirty="0"/>
          </a:p>
        </p:txBody>
      </p:sp>
      <p:sp>
        <p:nvSpPr>
          <p:cNvPr id="10" name="Shape 7"/>
          <p:cNvSpPr/>
          <p:nvPr/>
        </p:nvSpPr>
        <p:spPr>
          <a:xfrm>
            <a:off x="5317155" y="1840464"/>
            <a:ext cx="212108" cy="126802"/>
          </a:xfrm>
          <a:prstGeom prst="rect">
            <a:avLst/>
          </a:prstGeom>
          <a:solidFill>
            <a:srgbClr val="EEEEEE"/>
          </a:solidFill>
          <a:ln/>
        </p:spPr>
      </p:sp>
      <p:sp>
        <p:nvSpPr>
          <p:cNvPr id="11" name="Text 8"/>
          <p:cNvSpPr/>
          <p:nvPr/>
        </p:nvSpPr>
        <p:spPr>
          <a:xfrm>
            <a:off x="5317155" y="1840464"/>
            <a:ext cx="212108" cy="126802"/>
          </a:xfrm>
          <a:prstGeom prst="rect">
            <a:avLst/>
          </a:prstGeom>
          <a:noFill/>
          <a:ln/>
        </p:spPr>
        <p:txBody>
          <a:bodyPr wrap="none" lIns="51054" tIns="17018" rIns="51054" bIns="17018" rtlCol="0" anchor="t">
            <a:spAutoFit/>
          </a:bodyPr>
          <a:lstStyle/>
          <a:p>
            <a:pPr algn="r" indent="0" marL="0">
              <a:lnSpc>
                <a:spcPts val="700"/>
              </a:lnSpc>
              <a:buNone/>
            </a:pPr>
            <a:r>
              <a:rPr lang="en-US" sz="485" b="1" dirty="0">
                <a:solidFill>
                  <a:srgbClr val="666666"/>
                </a:solidFill>
              </a:rPr>
              <a:t>REF</a:t>
            </a:r>
            <a:endParaRPr lang="en-US" sz="485" dirty="0"/>
          </a:p>
        </p:txBody>
      </p:sp>
      <p:sp>
        <p:nvSpPr>
          <p:cNvPr id="12" name="Text 9"/>
          <p:cNvSpPr/>
          <p:nvPr/>
        </p:nvSpPr>
        <p:spPr>
          <a:xfrm>
            <a:off x="428625" y="2052991"/>
            <a:ext cx="2460408" cy="325041"/>
          </a:xfrm>
          <a:prstGeom prst="rect">
            <a:avLst/>
          </a:prstGeom>
          <a:noFill/>
          <a:ln/>
        </p:spPr>
        <p:txBody>
          <a:bodyPr wrap="square" lIns="8509" tIns="102108" rIns="8509" bIns="102108" rtlCol="0" anchor="ctr">
            <a:spAutoFit/>
          </a:bodyPr>
          <a:lstStyle/>
          <a:p>
            <a:pPr algn="l" indent="0" marL="0">
              <a:lnSpc>
                <a:spcPts val="1000"/>
              </a:lnSpc>
              <a:buNone/>
            </a:pPr>
            <a:r>
              <a:rPr lang="en-US" sz="780" dirty="0">
                <a:solidFill>
                  <a:srgbClr val="000000"/>
                </a:solidFill>
              </a:rPr>
              <a:t>Lexical + DNS</a:t>
            </a:r>
            <a:endParaRPr lang="en-US" sz="780" dirty="0"/>
          </a:p>
        </p:txBody>
      </p:sp>
      <p:sp>
        <p:nvSpPr>
          <p:cNvPr id="13" name="Text 10"/>
          <p:cNvSpPr/>
          <p:nvPr/>
        </p:nvSpPr>
        <p:spPr>
          <a:xfrm>
            <a:off x="2889033" y="2052991"/>
            <a:ext cx="1270415" cy="325041"/>
          </a:xfrm>
          <a:prstGeom prst="rect">
            <a:avLst/>
          </a:prstGeom>
          <a:noFill/>
          <a:ln/>
        </p:spPr>
        <p:txBody>
          <a:bodyPr wrap="square" lIns="8509" tIns="102108" rIns="8509" bIns="102108" rtlCol="0" anchor="ctr">
            <a:spAutoFit/>
          </a:bodyPr>
          <a:lstStyle/>
          <a:p>
            <a:pPr algn="ctr" indent="0" marL="0">
              <a:lnSpc>
                <a:spcPts val="1000"/>
              </a:lnSpc>
              <a:buNone/>
            </a:pPr>
            <a:r>
              <a:rPr lang="en-US" sz="734" b="1" dirty="0">
                <a:solidFill>
                  <a:srgbClr val="1A237E"/>
                </a:solidFill>
              </a:rPr>
              <a:t>0.965</a:t>
            </a:r>
            <a:endParaRPr lang="en-US" sz="734" dirty="0"/>
          </a:p>
        </p:txBody>
      </p:sp>
      <p:sp>
        <p:nvSpPr>
          <p:cNvPr id="14" name="Text 11"/>
          <p:cNvSpPr/>
          <p:nvPr/>
        </p:nvSpPr>
        <p:spPr>
          <a:xfrm>
            <a:off x="4159448" y="2052991"/>
            <a:ext cx="1376958" cy="325041"/>
          </a:xfrm>
          <a:prstGeom prst="rect">
            <a:avLst/>
          </a:prstGeom>
          <a:noFill/>
          <a:ln/>
        </p:spPr>
        <p:txBody>
          <a:bodyPr wrap="square" lIns="8509" tIns="102108" rIns="8509" bIns="102108" rtlCol="0" anchor="ctr">
            <a:spAutoFit/>
          </a:bodyPr>
          <a:lstStyle/>
          <a:p>
            <a:pPr algn="r" indent="0" marL="0">
              <a:lnSpc>
                <a:spcPts val="1000"/>
              </a:lnSpc>
              <a:buNone/>
            </a:pPr>
            <a:r>
              <a:rPr lang="en-US" sz="734" b="1" dirty="0">
                <a:solidFill>
                  <a:srgbClr val="FF5722"/>
                </a:solidFill>
              </a:rPr>
              <a:t>-0.01</a:t>
            </a:r>
            <a:endParaRPr lang="en-US" sz="734" dirty="0"/>
          </a:p>
        </p:txBody>
      </p:sp>
      <p:sp>
        <p:nvSpPr>
          <p:cNvPr id="15" name="Text 12"/>
          <p:cNvSpPr/>
          <p:nvPr/>
        </p:nvSpPr>
        <p:spPr>
          <a:xfrm>
            <a:off x="428625" y="2378032"/>
            <a:ext cx="2460408" cy="325041"/>
          </a:xfrm>
          <a:prstGeom prst="rect">
            <a:avLst/>
          </a:prstGeom>
          <a:noFill/>
          <a:ln/>
        </p:spPr>
        <p:txBody>
          <a:bodyPr wrap="square" lIns="8509" tIns="102108" rIns="8509" bIns="102108" rtlCol="0" anchor="ctr">
            <a:spAutoFit/>
          </a:bodyPr>
          <a:lstStyle/>
          <a:p>
            <a:pPr algn="l" indent="0" marL="0">
              <a:lnSpc>
                <a:spcPts val="1000"/>
              </a:lnSpc>
              <a:buNone/>
            </a:pPr>
            <a:r>
              <a:rPr lang="en-US" sz="780" dirty="0">
                <a:solidFill>
                  <a:srgbClr val="000000"/>
                </a:solidFill>
              </a:rPr>
              <a:t>Lexical + WHOIS</a:t>
            </a:r>
            <a:endParaRPr lang="en-US" sz="780" dirty="0"/>
          </a:p>
        </p:txBody>
      </p:sp>
      <p:sp>
        <p:nvSpPr>
          <p:cNvPr id="16" name="Text 13"/>
          <p:cNvSpPr/>
          <p:nvPr/>
        </p:nvSpPr>
        <p:spPr>
          <a:xfrm>
            <a:off x="2889033" y="2378032"/>
            <a:ext cx="1270415" cy="325041"/>
          </a:xfrm>
          <a:prstGeom prst="rect">
            <a:avLst/>
          </a:prstGeom>
          <a:noFill/>
          <a:ln/>
        </p:spPr>
        <p:txBody>
          <a:bodyPr wrap="square" lIns="8509" tIns="102108" rIns="8509" bIns="102108" rtlCol="0" anchor="ctr">
            <a:spAutoFit/>
          </a:bodyPr>
          <a:lstStyle/>
          <a:p>
            <a:pPr algn="ctr" indent="0" marL="0">
              <a:lnSpc>
                <a:spcPts val="1000"/>
              </a:lnSpc>
              <a:buNone/>
            </a:pPr>
            <a:r>
              <a:rPr lang="en-US" sz="734" b="1" dirty="0">
                <a:solidFill>
                  <a:srgbClr val="1A237E"/>
                </a:solidFill>
              </a:rPr>
              <a:t>0.965</a:t>
            </a:r>
            <a:endParaRPr lang="en-US" sz="734" dirty="0"/>
          </a:p>
        </p:txBody>
      </p:sp>
      <p:sp>
        <p:nvSpPr>
          <p:cNvPr id="17" name="Text 14"/>
          <p:cNvSpPr/>
          <p:nvPr/>
        </p:nvSpPr>
        <p:spPr>
          <a:xfrm>
            <a:off x="4159448" y="2378032"/>
            <a:ext cx="1376958" cy="325041"/>
          </a:xfrm>
          <a:prstGeom prst="rect">
            <a:avLst/>
          </a:prstGeom>
          <a:noFill/>
          <a:ln/>
        </p:spPr>
        <p:txBody>
          <a:bodyPr wrap="square" lIns="8509" tIns="102108" rIns="8509" bIns="102108" rtlCol="0" anchor="ctr">
            <a:spAutoFit/>
          </a:bodyPr>
          <a:lstStyle/>
          <a:p>
            <a:pPr algn="r" indent="0" marL="0">
              <a:lnSpc>
                <a:spcPts val="1000"/>
              </a:lnSpc>
              <a:buNone/>
            </a:pPr>
            <a:r>
              <a:rPr lang="en-US" sz="734" b="1" dirty="0">
                <a:solidFill>
                  <a:srgbClr val="FF5722"/>
                </a:solidFill>
              </a:rPr>
              <a:t>-0.01</a:t>
            </a:r>
            <a:endParaRPr lang="en-US" sz="734" dirty="0"/>
          </a:p>
        </p:txBody>
      </p:sp>
      <p:sp>
        <p:nvSpPr>
          <p:cNvPr id="18" name="Text 15"/>
          <p:cNvSpPr/>
          <p:nvPr/>
        </p:nvSpPr>
        <p:spPr>
          <a:xfrm>
            <a:off x="428625" y="2703072"/>
            <a:ext cx="2460408" cy="325041"/>
          </a:xfrm>
          <a:prstGeom prst="rect">
            <a:avLst/>
          </a:prstGeom>
          <a:noFill/>
          <a:ln/>
        </p:spPr>
        <p:txBody>
          <a:bodyPr wrap="square" lIns="8509" tIns="102108" rIns="8509" bIns="102108" rtlCol="0" anchor="ctr">
            <a:spAutoFit/>
          </a:bodyPr>
          <a:lstStyle/>
          <a:p>
            <a:pPr algn="l" indent="0" marL="0">
              <a:lnSpc>
                <a:spcPts val="1000"/>
              </a:lnSpc>
              <a:buNone/>
            </a:pPr>
            <a:r>
              <a:rPr lang="en-US" sz="780" dirty="0">
                <a:solidFill>
                  <a:srgbClr val="000000"/>
                </a:solidFill>
              </a:rPr>
              <a:t>DNS + WHOIS</a:t>
            </a:r>
            <a:endParaRPr lang="en-US" sz="780" dirty="0"/>
          </a:p>
        </p:txBody>
      </p:sp>
      <p:sp>
        <p:nvSpPr>
          <p:cNvPr id="19" name="Text 16"/>
          <p:cNvSpPr/>
          <p:nvPr/>
        </p:nvSpPr>
        <p:spPr>
          <a:xfrm>
            <a:off x="2889033" y="2703072"/>
            <a:ext cx="1270415" cy="325041"/>
          </a:xfrm>
          <a:prstGeom prst="rect">
            <a:avLst/>
          </a:prstGeom>
          <a:noFill/>
          <a:ln/>
        </p:spPr>
        <p:txBody>
          <a:bodyPr wrap="square" lIns="8509" tIns="102108" rIns="8509" bIns="102108" rtlCol="0" anchor="ctr">
            <a:spAutoFit/>
          </a:bodyPr>
          <a:lstStyle/>
          <a:p>
            <a:pPr algn="ctr" indent="0" marL="0">
              <a:lnSpc>
                <a:spcPts val="1000"/>
              </a:lnSpc>
              <a:buNone/>
            </a:pPr>
            <a:r>
              <a:rPr lang="en-US" sz="734" b="1" dirty="0">
                <a:solidFill>
                  <a:srgbClr val="1A237E"/>
                </a:solidFill>
              </a:rPr>
              <a:t>0.930</a:t>
            </a:r>
            <a:endParaRPr lang="en-US" sz="734" dirty="0"/>
          </a:p>
        </p:txBody>
      </p:sp>
      <p:sp>
        <p:nvSpPr>
          <p:cNvPr id="20" name="Text 17"/>
          <p:cNvSpPr/>
          <p:nvPr/>
        </p:nvSpPr>
        <p:spPr>
          <a:xfrm>
            <a:off x="4159448" y="2703072"/>
            <a:ext cx="1376958" cy="325041"/>
          </a:xfrm>
          <a:prstGeom prst="rect">
            <a:avLst/>
          </a:prstGeom>
          <a:noFill/>
          <a:ln/>
        </p:spPr>
        <p:txBody>
          <a:bodyPr wrap="square" lIns="8509" tIns="102108" rIns="8509" bIns="102108" rtlCol="0" anchor="ctr">
            <a:spAutoFit/>
          </a:bodyPr>
          <a:lstStyle/>
          <a:p>
            <a:pPr algn="r" indent="0" marL="0">
              <a:lnSpc>
                <a:spcPts val="1000"/>
              </a:lnSpc>
              <a:buNone/>
            </a:pPr>
            <a:r>
              <a:rPr lang="en-US" sz="734" b="1" dirty="0">
                <a:solidFill>
                  <a:srgbClr val="FF5722"/>
                </a:solidFill>
              </a:rPr>
              <a:t>-0.04</a:t>
            </a:r>
            <a:endParaRPr lang="en-US" sz="734" dirty="0"/>
          </a:p>
        </p:txBody>
      </p:sp>
      <p:sp>
        <p:nvSpPr>
          <p:cNvPr id="21" name="Text 18"/>
          <p:cNvSpPr/>
          <p:nvPr/>
        </p:nvSpPr>
        <p:spPr>
          <a:xfrm>
            <a:off x="428625" y="3028113"/>
            <a:ext cx="2460408" cy="325041"/>
          </a:xfrm>
          <a:prstGeom prst="rect">
            <a:avLst/>
          </a:prstGeom>
          <a:noFill/>
          <a:ln/>
        </p:spPr>
        <p:txBody>
          <a:bodyPr wrap="square" lIns="8509" tIns="102108" rIns="8509" bIns="102108" rtlCol="0" anchor="ctr">
            <a:spAutoFit/>
          </a:bodyPr>
          <a:lstStyle/>
          <a:p>
            <a:pPr algn="l" indent="0" marL="0">
              <a:lnSpc>
                <a:spcPts val="1000"/>
              </a:lnSpc>
              <a:buNone/>
            </a:pPr>
            <a:r>
              <a:rPr lang="en-US" sz="780" dirty="0">
                <a:solidFill>
                  <a:srgbClr val="000000"/>
                </a:solidFill>
              </a:rPr>
              <a:t>Sadece Lexical</a:t>
            </a:r>
            <a:endParaRPr lang="en-US" sz="780" dirty="0"/>
          </a:p>
        </p:txBody>
      </p:sp>
      <p:sp>
        <p:nvSpPr>
          <p:cNvPr id="22" name="Text 19"/>
          <p:cNvSpPr/>
          <p:nvPr/>
        </p:nvSpPr>
        <p:spPr>
          <a:xfrm>
            <a:off x="2889033" y="3028113"/>
            <a:ext cx="1270415" cy="325041"/>
          </a:xfrm>
          <a:prstGeom prst="rect">
            <a:avLst/>
          </a:prstGeom>
          <a:noFill/>
          <a:ln/>
        </p:spPr>
        <p:txBody>
          <a:bodyPr wrap="square" lIns="8509" tIns="102108" rIns="8509" bIns="102108" rtlCol="0" anchor="ctr">
            <a:spAutoFit/>
          </a:bodyPr>
          <a:lstStyle/>
          <a:p>
            <a:pPr algn="ctr" indent="0" marL="0">
              <a:lnSpc>
                <a:spcPts val="1000"/>
              </a:lnSpc>
              <a:buNone/>
            </a:pPr>
            <a:r>
              <a:rPr lang="en-US" sz="734" b="1" dirty="0">
                <a:solidFill>
                  <a:srgbClr val="1A237E"/>
                </a:solidFill>
              </a:rPr>
              <a:t>0.940</a:t>
            </a:r>
            <a:endParaRPr lang="en-US" sz="734" dirty="0"/>
          </a:p>
        </p:txBody>
      </p:sp>
      <p:sp>
        <p:nvSpPr>
          <p:cNvPr id="23" name="Text 20"/>
          <p:cNvSpPr/>
          <p:nvPr/>
        </p:nvSpPr>
        <p:spPr>
          <a:xfrm>
            <a:off x="4159448" y="3028113"/>
            <a:ext cx="1376958" cy="325041"/>
          </a:xfrm>
          <a:prstGeom prst="rect">
            <a:avLst/>
          </a:prstGeom>
          <a:noFill/>
          <a:ln/>
        </p:spPr>
        <p:txBody>
          <a:bodyPr wrap="square" lIns="8509" tIns="102108" rIns="8509" bIns="102108" rtlCol="0" anchor="ctr">
            <a:spAutoFit/>
          </a:bodyPr>
          <a:lstStyle/>
          <a:p>
            <a:pPr algn="r" indent="0" marL="0">
              <a:lnSpc>
                <a:spcPts val="1000"/>
              </a:lnSpc>
              <a:buNone/>
            </a:pPr>
            <a:r>
              <a:rPr lang="en-US" sz="734" b="1" dirty="0">
                <a:solidFill>
                  <a:srgbClr val="FF5722"/>
                </a:solidFill>
              </a:rPr>
              <a:t>-0.03</a:t>
            </a:r>
            <a:endParaRPr lang="en-US" sz="734" dirty="0"/>
          </a:p>
        </p:txBody>
      </p:sp>
      <p:sp>
        <p:nvSpPr>
          <p:cNvPr id="24" name="Text 21"/>
          <p:cNvSpPr/>
          <p:nvPr/>
        </p:nvSpPr>
        <p:spPr>
          <a:xfrm>
            <a:off x="428625" y="3353153"/>
            <a:ext cx="2460408" cy="325041"/>
          </a:xfrm>
          <a:prstGeom prst="rect">
            <a:avLst/>
          </a:prstGeom>
          <a:noFill/>
          <a:ln/>
        </p:spPr>
        <p:txBody>
          <a:bodyPr wrap="square" lIns="8509" tIns="102108" rIns="8509" bIns="102108" rtlCol="0" anchor="ctr">
            <a:spAutoFit/>
          </a:bodyPr>
          <a:lstStyle/>
          <a:p>
            <a:pPr algn="l" indent="0" marL="0">
              <a:lnSpc>
                <a:spcPts val="1000"/>
              </a:lnSpc>
              <a:buNone/>
            </a:pPr>
            <a:r>
              <a:rPr lang="en-US" sz="780" dirty="0">
                <a:solidFill>
                  <a:srgbClr val="000000"/>
                </a:solidFill>
              </a:rPr>
              <a:t>Sadece DNS</a:t>
            </a:r>
            <a:endParaRPr lang="en-US" sz="780" dirty="0"/>
          </a:p>
        </p:txBody>
      </p:sp>
      <p:sp>
        <p:nvSpPr>
          <p:cNvPr id="25" name="Text 22"/>
          <p:cNvSpPr/>
          <p:nvPr/>
        </p:nvSpPr>
        <p:spPr>
          <a:xfrm>
            <a:off x="2889033" y="3353153"/>
            <a:ext cx="1270415" cy="325041"/>
          </a:xfrm>
          <a:prstGeom prst="rect">
            <a:avLst/>
          </a:prstGeom>
          <a:noFill/>
          <a:ln/>
        </p:spPr>
        <p:txBody>
          <a:bodyPr wrap="square" lIns="8509" tIns="102108" rIns="8509" bIns="102108" rtlCol="0" anchor="ctr">
            <a:spAutoFit/>
          </a:bodyPr>
          <a:lstStyle/>
          <a:p>
            <a:pPr algn="ctr" indent="0" marL="0">
              <a:lnSpc>
                <a:spcPts val="1000"/>
              </a:lnSpc>
              <a:buNone/>
            </a:pPr>
            <a:r>
              <a:rPr lang="en-US" sz="734" b="1" dirty="0">
                <a:solidFill>
                  <a:srgbClr val="1A237E"/>
                </a:solidFill>
              </a:rPr>
              <a:t>0.875</a:t>
            </a:r>
            <a:endParaRPr lang="en-US" sz="734" dirty="0"/>
          </a:p>
        </p:txBody>
      </p:sp>
      <p:sp>
        <p:nvSpPr>
          <p:cNvPr id="26" name="Text 23"/>
          <p:cNvSpPr/>
          <p:nvPr/>
        </p:nvSpPr>
        <p:spPr>
          <a:xfrm>
            <a:off x="4159448" y="3353153"/>
            <a:ext cx="1376958" cy="325041"/>
          </a:xfrm>
          <a:prstGeom prst="rect">
            <a:avLst/>
          </a:prstGeom>
          <a:noFill/>
          <a:ln/>
        </p:spPr>
        <p:txBody>
          <a:bodyPr wrap="square" lIns="8509" tIns="102108" rIns="8509" bIns="102108" rtlCol="0" anchor="ctr">
            <a:spAutoFit/>
          </a:bodyPr>
          <a:lstStyle/>
          <a:p>
            <a:pPr algn="r" indent="0" marL="0">
              <a:lnSpc>
                <a:spcPts val="1000"/>
              </a:lnSpc>
              <a:buNone/>
            </a:pPr>
            <a:r>
              <a:rPr lang="en-US" sz="734" b="1" dirty="0">
                <a:solidFill>
                  <a:srgbClr val="FF5722"/>
                </a:solidFill>
              </a:rPr>
              <a:t>-0.10</a:t>
            </a:r>
            <a:endParaRPr lang="en-US" sz="734" dirty="0"/>
          </a:p>
        </p:txBody>
      </p:sp>
      <p:sp>
        <p:nvSpPr>
          <p:cNvPr id="27" name="Text 24"/>
          <p:cNvSpPr/>
          <p:nvPr/>
        </p:nvSpPr>
        <p:spPr>
          <a:xfrm>
            <a:off x="428625" y="3678194"/>
            <a:ext cx="2460408" cy="325041"/>
          </a:xfrm>
          <a:prstGeom prst="rect">
            <a:avLst/>
          </a:prstGeom>
          <a:noFill/>
          <a:ln/>
        </p:spPr>
        <p:txBody>
          <a:bodyPr wrap="square" lIns="8509" tIns="102108" rIns="8509" bIns="102108" rtlCol="0" anchor="ctr">
            <a:spAutoFit/>
          </a:bodyPr>
          <a:lstStyle/>
          <a:p>
            <a:pPr algn="l" indent="0" marL="0">
              <a:lnSpc>
                <a:spcPts val="1000"/>
              </a:lnSpc>
              <a:buNone/>
            </a:pPr>
            <a:r>
              <a:rPr lang="en-US" sz="780" dirty="0">
                <a:solidFill>
                  <a:srgbClr val="000000"/>
                </a:solidFill>
              </a:rPr>
              <a:t>Sadece WHOIS</a:t>
            </a:r>
            <a:endParaRPr lang="en-US" sz="780" dirty="0"/>
          </a:p>
        </p:txBody>
      </p:sp>
      <p:sp>
        <p:nvSpPr>
          <p:cNvPr id="28" name="Text 25"/>
          <p:cNvSpPr/>
          <p:nvPr/>
        </p:nvSpPr>
        <p:spPr>
          <a:xfrm>
            <a:off x="2889033" y="3678194"/>
            <a:ext cx="1270415" cy="325041"/>
          </a:xfrm>
          <a:prstGeom prst="rect">
            <a:avLst/>
          </a:prstGeom>
          <a:noFill/>
          <a:ln/>
        </p:spPr>
        <p:txBody>
          <a:bodyPr wrap="square" lIns="8509" tIns="102108" rIns="8509" bIns="102108" rtlCol="0" anchor="ctr">
            <a:spAutoFit/>
          </a:bodyPr>
          <a:lstStyle/>
          <a:p>
            <a:pPr algn="ctr" indent="0" marL="0">
              <a:lnSpc>
                <a:spcPts val="1000"/>
              </a:lnSpc>
              <a:buNone/>
            </a:pPr>
            <a:r>
              <a:rPr lang="en-US" sz="734" b="1" dirty="0">
                <a:solidFill>
                  <a:srgbClr val="1A237E"/>
                </a:solidFill>
              </a:rPr>
              <a:t>0.850</a:t>
            </a:r>
            <a:endParaRPr lang="en-US" sz="734" dirty="0"/>
          </a:p>
        </p:txBody>
      </p:sp>
      <p:sp>
        <p:nvSpPr>
          <p:cNvPr id="29" name="Text 26"/>
          <p:cNvSpPr/>
          <p:nvPr/>
        </p:nvSpPr>
        <p:spPr>
          <a:xfrm>
            <a:off x="4159448" y="3678194"/>
            <a:ext cx="1376958" cy="325041"/>
          </a:xfrm>
          <a:prstGeom prst="rect">
            <a:avLst/>
          </a:prstGeom>
          <a:noFill/>
          <a:ln/>
        </p:spPr>
        <p:txBody>
          <a:bodyPr wrap="square" lIns="8509" tIns="102108" rIns="8509" bIns="102108" rtlCol="0" anchor="ctr">
            <a:spAutoFit/>
          </a:bodyPr>
          <a:lstStyle/>
          <a:p>
            <a:pPr algn="r" indent="0" marL="0">
              <a:lnSpc>
                <a:spcPts val="1000"/>
              </a:lnSpc>
              <a:buNone/>
            </a:pPr>
            <a:r>
              <a:rPr lang="en-US" sz="734" b="1" dirty="0">
                <a:solidFill>
                  <a:srgbClr val="FF5722"/>
                </a:solidFill>
              </a:rPr>
              <a:t>-0.12</a:t>
            </a:r>
            <a:endParaRPr lang="en-US" sz="734" dirty="0"/>
          </a:p>
        </p:txBody>
      </p:sp>
      <p:sp>
        <p:nvSpPr>
          <p:cNvPr id="30" name="Shape 27"/>
          <p:cNvSpPr/>
          <p:nvPr/>
        </p:nvSpPr>
        <p:spPr>
          <a:xfrm>
            <a:off x="5822156" y="0"/>
            <a:ext cx="3321844" cy="5143500"/>
          </a:xfrm>
          <a:prstGeom prst="rect">
            <a:avLst/>
          </a:prstGeom>
          <a:solidFill>
            <a:srgbClr val="1A237E"/>
          </a:solidFill>
          <a:ln/>
        </p:spPr>
      </p:sp>
      <p:sp>
        <p:nvSpPr>
          <p:cNvPr id="31" name="Text 28"/>
          <p:cNvSpPr/>
          <p:nvPr/>
        </p:nvSpPr>
        <p:spPr>
          <a:xfrm>
            <a:off x="6107906" y="571500"/>
            <a:ext cx="27503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5722"/>
                </a:solidFill>
              </a:rPr>
              <a:t>En Güçlü Ayırt Edici</a:t>
            </a:r>
            <a:endParaRPr lang="en-US" sz="987" dirty="0"/>
          </a:p>
        </p:txBody>
      </p:sp>
      <p:sp>
        <p:nvSpPr>
          <p:cNvPr id="32" name="Text 29"/>
          <p:cNvSpPr/>
          <p:nvPr/>
        </p:nvSpPr>
        <p:spPr>
          <a:xfrm>
            <a:off x="6107906" y="880467"/>
            <a:ext cx="2750344" cy="49718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FFFFFF">
                    <a:alpha val="90000"/>
                  </a:srgbClr>
                </a:solidFill>
              </a:rPr>
              <a:t>Sözcüksel (Lexical) özellikler tek başına %94 başarı sağlayarak URL formunun phishing tespitindeki kritik önemini kanıtlamaktadır.</a:t>
            </a:r>
            <a:endParaRPr lang="en-US" sz="834" dirty="0"/>
          </a:p>
        </p:txBody>
      </p:sp>
      <p:sp>
        <p:nvSpPr>
          <p:cNvPr id="33" name="Text 30"/>
          <p:cNvSpPr/>
          <p:nvPr/>
        </p:nvSpPr>
        <p:spPr>
          <a:xfrm>
            <a:off x="6107906" y="1777705"/>
            <a:ext cx="27503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5722"/>
                </a:solidFill>
              </a:rPr>
              <a:t>Hibrit Sinerji</a:t>
            </a:r>
            <a:endParaRPr lang="en-US" sz="987" dirty="0"/>
          </a:p>
        </p:txBody>
      </p:sp>
      <p:sp>
        <p:nvSpPr>
          <p:cNvPr id="34" name="Text 31"/>
          <p:cNvSpPr/>
          <p:nvPr/>
        </p:nvSpPr>
        <p:spPr>
          <a:xfrm>
            <a:off x="6107906" y="2086673"/>
            <a:ext cx="2750344" cy="49718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FFFFFF">
                    <a:alpha val="90000"/>
                  </a:srgbClr>
                </a:solidFill>
              </a:rPr>
              <a:t>DNS ve WHOIS verilerinin entegrasyonu, modelin genelleme yeteneğini pekiştirerek F1-Score'u %98 bandına taşımaktadır.</a:t>
            </a:r>
            <a:endParaRPr lang="en-US" sz="834" dirty="0"/>
          </a:p>
        </p:txBody>
      </p:sp>
      <p:sp>
        <p:nvSpPr>
          <p:cNvPr id="35" name="Text 32"/>
          <p:cNvSpPr/>
          <p:nvPr/>
        </p:nvSpPr>
        <p:spPr>
          <a:xfrm>
            <a:off x="6107906" y="2983911"/>
            <a:ext cx="2750344"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5722"/>
                </a:solidFill>
              </a:rPr>
              <a:t>Kritik Kayıp</a:t>
            </a:r>
            <a:endParaRPr lang="en-US" sz="987" dirty="0"/>
          </a:p>
        </p:txBody>
      </p:sp>
      <p:sp>
        <p:nvSpPr>
          <p:cNvPr id="36" name="Text 33"/>
          <p:cNvSpPr/>
          <p:nvPr/>
        </p:nvSpPr>
        <p:spPr>
          <a:xfrm>
            <a:off x="6107906" y="3292878"/>
            <a:ext cx="2750344" cy="49718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FFFFFF">
                    <a:alpha val="90000"/>
                  </a:srgbClr>
                </a:solidFill>
              </a:rPr>
              <a:t>Ağ tabanlı veya sahiplik verilerinin tek başına kullanımı performansı %10-12 oranında düşürerek yetersiz kalmaktadır.</a:t>
            </a:r>
            <a:endParaRPr lang="en-US" sz="83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71500"/>
            <a:ext cx="8715375"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TF-IDF İntegrasyonu ile Üstün Performans Sonuçları</a:t>
            </a:r>
            <a:endParaRPr lang="en-US" sz="2121" dirty="0"/>
          </a:p>
        </p:txBody>
      </p:sp>
      <p:sp>
        <p:nvSpPr>
          <p:cNvPr id="4" name="Text 1"/>
          <p:cNvSpPr/>
          <p:nvPr/>
        </p:nvSpPr>
        <p:spPr>
          <a:xfrm>
            <a:off x="428625" y="1360159"/>
            <a:ext cx="82867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333333"/>
                </a:solidFill>
              </a:rPr>
              <a:t>1075 özelliğin tamamının kullanıldığı nihai testlerde, modellerin phishing tespitinde olağanüstü başarı oranlarına ulaştığı görülmüştür. Özellikle LightGBM ve XGBoost modelleri liderliği paylaşmaktadır.</a:t>
            </a:r>
            <a:endParaRPr lang="en-US" sz="942" dirty="0"/>
          </a:p>
        </p:txBody>
      </p:sp>
      <p:sp>
        <p:nvSpPr>
          <p:cNvPr id="5" name="Shape 2"/>
          <p:cNvSpPr/>
          <p:nvPr/>
        </p:nvSpPr>
        <p:spPr>
          <a:xfrm>
            <a:off x="428625" y="1828744"/>
            <a:ext cx="1314450" cy="258961"/>
          </a:xfrm>
          <a:prstGeom prst="rect">
            <a:avLst/>
          </a:prstGeom>
          <a:solidFill>
            <a:srgbClr val="1A237E"/>
          </a:solidFill>
          <a:ln/>
        </p:spPr>
      </p:sp>
      <p:sp>
        <p:nvSpPr>
          <p:cNvPr id="6" name="Text 3"/>
          <p:cNvSpPr/>
          <p:nvPr/>
        </p:nvSpPr>
        <p:spPr>
          <a:xfrm>
            <a:off x="428625" y="1828744"/>
            <a:ext cx="1314450" cy="258961"/>
          </a:xfrm>
          <a:prstGeom prst="rect">
            <a:avLst/>
          </a:prstGeom>
          <a:noFill/>
          <a:ln/>
        </p:spPr>
        <p:txBody>
          <a:bodyPr wrap="square" lIns="85090" tIns="85090" rIns="85090" bIns="85090" rtlCol="0" anchor="ctr">
            <a:spAutoFit/>
          </a:bodyPr>
          <a:lstStyle/>
          <a:p>
            <a:pPr algn="l" indent="0" marL="0">
              <a:lnSpc>
                <a:spcPts val="900"/>
              </a:lnSpc>
              <a:buNone/>
            </a:pPr>
            <a:r>
              <a:rPr lang="en-US" sz="683" b="1" spc="1" kern="0" dirty="0">
                <a:solidFill>
                  <a:srgbClr val="FFFFFF"/>
                </a:solidFill>
              </a:rPr>
              <a:t>Model</a:t>
            </a:r>
            <a:endParaRPr lang="en-US" sz="683" dirty="0"/>
          </a:p>
        </p:txBody>
      </p:sp>
      <p:sp>
        <p:nvSpPr>
          <p:cNvPr id="7" name="Shape 4"/>
          <p:cNvSpPr/>
          <p:nvPr/>
        </p:nvSpPr>
        <p:spPr>
          <a:xfrm>
            <a:off x="1743075" y="1828744"/>
            <a:ext cx="1905009" cy="258961"/>
          </a:xfrm>
          <a:prstGeom prst="rect">
            <a:avLst/>
          </a:prstGeom>
          <a:solidFill>
            <a:srgbClr val="1A237E"/>
          </a:solidFill>
          <a:ln/>
        </p:spPr>
      </p:sp>
      <p:sp>
        <p:nvSpPr>
          <p:cNvPr id="8" name="Text 5"/>
          <p:cNvSpPr/>
          <p:nvPr/>
        </p:nvSpPr>
        <p:spPr>
          <a:xfrm>
            <a:off x="1743075" y="1828744"/>
            <a:ext cx="1905009" cy="258961"/>
          </a:xfrm>
          <a:prstGeom prst="rect">
            <a:avLst/>
          </a:prstGeom>
          <a:noFill/>
          <a:ln/>
        </p:spPr>
        <p:txBody>
          <a:bodyPr wrap="square" lIns="85090" tIns="85090" rIns="85090" bIns="85090" rtlCol="0" anchor="ctr">
            <a:spAutoFit/>
          </a:bodyPr>
          <a:lstStyle/>
          <a:p>
            <a:pPr algn="ctr" indent="0" marL="0">
              <a:lnSpc>
                <a:spcPts val="900"/>
              </a:lnSpc>
              <a:buNone/>
            </a:pPr>
            <a:r>
              <a:rPr lang="en-US" sz="683" b="1" spc="1" kern="0" dirty="0">
                <a:solidFill>
                  <a:srgbClr val="333333"/>
                </a:solidFill>
              </a:rPr>
              <a:t>Accuracy</a:t>
            </a:r>
            <a:endParaRPr lang="en-US" sz="683" dirty="0"/>
          </a:p>
        </p:txBody>
      </p:sp>
      <p:sp>
        <p:nvSpPr>
          <p:cNvPr id="9" name="Shape 6"/>
          <p:cNvSpPr/>
          <p:nvPr/>
        </p:nvSpPr>
        <p:spPr>
          <a:xfrm>
            <a:off x="3648084" y="1828744"/>
            <a:ext cx="1868035" cy="258961"/>
          </a:xfrm>
          <a:prstGeom prst="rect">
            <a:avLst/>
          </a:prstGeom>
          <a:solidFill>
            <a:srgbClr val="1A237E"/>
          </a:solidFill>
          <a:ln/>
        </p:spPr>
      </p:sp>
      <p:sp>
        <p:nvSpPr>
          <p:cNvPr id="10" name="Text 7"/>
          <p:cNvSpPr/>
          <p:nvPr/>
        </p:nvSpPr>
        <p:spPr>
          <a:xfrm>
            <a:off x="3648084" y="1828744"/>
            <a:ext cx="1868035" cy="258961"/>
          </a:xfrm>
          <a:prstGeom prst="rect">
            <a:avLst/>
          </a:prstGeom>
          <a:noFill/>
          <a:ln/>
        </p:spPr>
        <p:txBody>
          <a:bodyPr wrap="square" lIns="85090" tIns="85090" rIns="85090" bIns="85090" rtlCol="0" anchor="ctr">
            <a:spAutoFit/>
          </a:bodyPr>
          <a:lstStyle/>
          <a:p>
            <a:pPr algn="ctr" indent="0" marL="0">
              <a:lnSpc>
                <a:spcPts val="900"/>
              </a:lnSpc>
              <a:buNone/>
            </a:pPr>
            <a:r>
              <a:rPr lang="en-US" sz="683" b="1" spc="1" kern="0" dirty="0">
                <a:solidFill>
                  <a:srgbClr val="333333"/>
                </a:solidFill>
              </a:rPr>
              <a:t>Precision</a:t>
            </a:r>
            <a:endParaRPr lang="en-US" sz="683" dirty="0"/>
          </a:p>
        </p:txBody>
      </p:sp>
      <p:sp>
        <p:nvSpPr>
          <p:cNvPr id="11" name="Shape 8"/>
          <p:cNvSpPr/>
          <p:nvPr/>
        </p:nvSpPr>
        <p:spPr>
          <a:xfrm>
            <a:off x="5516119" y="1828744"/>
            <a:ext cx="1458497" cy="258961"/>
          </a:xfrm>
          <a:prstGeom prst="rect">
            <a:avLst/>
          </a:prstGeom>
          <a:solidFill>
            <a:srgbClr val="1A237E"/>
          </a:solidFill>
          <a:ln/>
        </p:spPr>
      </p:sp>
      <p:sp>
        <p:nvSpPr>
          <p:cNvPr id="12" name="Text 9"/>
          <p:cNvSpPr/>
          <p:nvPr/>
        </p:nvSpPr>
        <p:spPr>
          <a:xfrm>
            <a:off x="5516119" y="1828744"/>
            <a:ext cx="1458497" cy="258961"/>
          </a:xfrm>
          <a:prstGeom prst="rect">
            <a:avLst/>
          </a:prstGeom>
          <a:noFill/>
          <a:ln/>
        </p:spPr>
        <p:txBody>
          <a:bodyPr wrap="square" lIns="85090" tIns="85090" rIns="85090" bIns="85090" rtlCol="0" anchor="ctr">
            <a:spAutoFit/>
          </a:bodyPr>
          <a:lstStyle/>
          <a:p>
            <a:pPr algn="ctr" indent="0" marL="0">
              <a:lnSpc>
                <a:spcPts val="900"/>
              </a:lnSpc>
              <a:buNone/>
            </a:pPr>
            <a:r>
              <a:rPr lang="en-US" sz="683" b="1" spc="1" kern="0" dirty="0">
                <a:solidFill>
                  <a:srgbClr val="333333"/>
                </a:solidFill>
              </a:rPr>
              <a:t>Recall</a:t>
            </a:r>
            <a:endParaRPr lang="en-US" sz="683" dirty="0"/>
          </a:p>
        </p:txBody>
      </p:sp>
      <p:sp>
        <p:nvSpPr>
          <p:cNvPr id="13" name="Shape 10"/>
          <p:cNvSpPr/>
          <p:nvPr/>
        </p:nvSpPr>
        <p:spPr>
          <a:xfrm>
            <a:off x="6974616" y="1828744"/>
            <a:ext cx="1740759" cy="258961"/>
          </a:xfrm>
          <a:prstGeom prst="rect">
            <a:avLst/>
          </a:prstGeom>
          <a:solidFill>
            <a:srgbClr val="1A237E"/>
          </a:solidFill>
          <a:ln/>
        </p:spPr>
      </p:sp>
      <p:sp>
        <p:nvSpPr>
          <p:cNvPr id="14" name="Text 11"/>
          <p:cNvSpPr/>
          <p:nvPr/>
        </p:nvSpPr>
        <p:spPr>
          <a:xfrm>
            <a:off x="6974616" y="1828744"/>
            <a:ext cx="1740759" cy="258961"/>
          </a:xfrm>
          <a:prstGeom prst="rect">
            <a:avLst/>
          </a:prstGeom>
          <a:noFill/>
          <a:ln/>
        </p:spPr>
        <p:txBody>
          <a:bodyPr wrap="square" lIns="85090" tIns="85090" rIns="85090" bIns="85090" rtlCol="0" anchor="ctr">
            <a:spAutoFit/>
          </a:bodyPr>
          <a:lstStyle/>
          <a:p>
            <a:pPr algn="ctr" indent="0" marL="0">
              <a:lnSpc>
                <a:spcPts val="900"/>
              </a:lnSpc>
              <a:buNone/>
            </a:pPr>
            <a:r>
              <a:rPr lang="en-US" sz="683" b="1" spc="1" kern="0" dirty="0">
                <a:solidFill>
                  <a:srgbClr val="333333"/>
                </a:solidFill>
              </a:rPr>
              <a:t>F1-Score</a:t>
            </a:r>
            <a:endParaRPr lang="en-US" sz="683" dirty="0"/>
          </a:p>
        </p:txBody>
      </p:sp>
      <p:sp>
        <p:nvSpPr>
          <p:cNvPr id="15" name="Shape 12"/>
          <p:cNvSpPr/>
          <p:nvPr/>
        </p:nvSpPr>
        <p:spPr>
          <a:xfrm>
            <a:off x="428625" y="2087705"/>
            <a:ext cx="8286750" cy="273248"/>
          </a:xfrm>
          <a:prstGeom prst="rect">
            <a:avLst/>
          </a:prstGeom>
          <a:solidFill>
            <a:srgbClr val="FF5722">
              <a:alpha val="5000"/>
            </a:srgbClr>
          </a:solidFill>
          <a:ln/>
        </p:spPr>
      </p:sp>
      <p:sp>
        <p:nvSpPr>
          <p:cNvPr id="16" name="Text 13"/>
          <p:cNvSpPr/>
          <p:nvPr/>
        </p:nvSpPr>
        <p:spPr>
          <a:xfrm>
            <a:off x="428625" y="2087705"/>
            <a:ext cx="1314450" cy="273248"/>
          </a:xfrm>
          <a:prstGeom prst="rect">
            <a:avLst/>
          </a:prstGeom>
          <a:noFill/>
          <a:ln/>
        </p:spPr>
        <p:txBody>
          <a:bodyPr wrap="square" lIns="102108" tIns="68072" rIns="102108" bIns="68072" rtlCol="0" anchor="ctr">
            <a:spAutoFit/>
          </a:bodyPr>
          <a:lstStyle/>
          <a:p>
            <a:pPr algn="l" indent="0" marL="0">
              <a:lnSpc>
                <a:spcPts val="1100"/>
              </a:lnSpc>
              <a:buNone/>
            </a:pPr>
            <a:r>
              <a:rPr lang="en-US" sz="784" b="1" dirty="0">
                <a:solidFill>
                  <a:srgbClr val="FF5722"/>
                </a:solidFill>
              </a:rPr>
              <a:t>LightGBM</a:t>
            </a:r>
            <a:endParaRPr lang="en-US" sz="784" dirty="0"/>
          </a:p>
        </p:txBody>
      </p:sp>
      <p:sp>
        <p:nvSpPr>
          <p:cNvPr id="17" name="Text 14"/>
          <p:cNvSpPr/>
          <p:nvPr/>
        </p:nvSpPr>
        <p:spPr>
          <a:xfrm>
            <a:off x="1743075" y="2087705"/>
            <a:ext cx="1905009" cy="273248"/>
          </a:xfrm>
          <a:prstGeom prst="rect">
            <a:avLst/>
          </a:prstGeom>
          <a:noFill/>
          <a:ln/>
        </p:spPr>
        <p:txBody>
          <a:bodyPr wrap="square" lIns="102108" tIns="68072" rIns="102108" bIns="68072" rtlCol="0" anchor="ctr">
            <a:spAutoFit/>
          </a:bodyPr>
          <a:lstStyle/>
          <a:p>
            <a:pPr algn="ctr" indent="0" marL="0">
              <a:lnSpc>
                <a:spcPts val="1200"/>
              </a:lnSpc>
              <a:buNone/>
            </a:pPr>
            <a:r>
              <a:rPr lang="en-US" sz="885" b="1" dirty="0">
                <a:solidFill>
                  <a:srgbClr val="FF5722"/>
                </a:solidFill>
              </a:rPr>
              <a:t>0.9913</a:t>
            </a:r>
            <a:endParaRPr lang="en-US" sz="885" dirty="0"/>
          </a:p>
        </p:txBody>
      </p:sp>
      <p:sp>
        <p:nvSpPr>
          <p:cNvPr id="18" name="Text 15"/>
          <p:cNvSpPr/>
          <p:nvPr/>
        </p:nvSpPr>
        <p:spPr>
          <a:xfrm>
            <a:off x="3648084" y="2087705"/>
            <a:ext cx="1868035" cy="273248"/>
          </a:xfrm>
          <a:prstGeom prst="rect">
            <a:avLst/>
          </a:prstGeom>
          <a:noFill/>
          <a:ln/>
        </p:spPr>
        <p:txBody>
          <a:bodyPr wrap="square" lIns="102108" tIns="68072" rIns="102108" bIns="68072" rtlCol="0" anchor="ctr">
            <a:spAutoFit/>
          </a:bodyPr>
          <a:lstStyle/>
          <a:p>
            <a:pPr algn="ctr" indent="0" marL="0">
              <a:lnSpc>
                <a:spcPts val="1200"/>
              </a:lnSpc>
              <a:buNone/>
            </a:pPr>
            <a:r>
              <a:rPr lang="en-US" sz="885" b="1" dirty="0">
                <a:solidFill>
                  <a:srgbClr val="FF5722"/>
                </a:solidFill>
              </a:rPr>
              <a:t>0.9928</a:t>
            </a:r>
            <a:endParaRPr lang="en-US" sz="885" dirty="0"/>
          </a:p>
        </p:txBody>
      </p:sp>
      <p:sp>
        <p:nvSpPr>
          <p:cNvPr id="19" name="Text 16"/>
          <p:cNvSpPr/>
          <p:nvPr/>
        </p:nvSpPr>
        <p:spPr>
          <a:xfrm>
            <a:off x="5516119" y="2087705"/>
            <a:ext cx="1458497" cy="273248"/>
          </a:xfrm>
          <a:prstGeom prst="rect">
            <a:avLst/>
          </a:prstGeom>
          <a:noFill/>
          <a:ln/>
        </p:spPr>
        <p:txBody>
          <a:bodyPr wrap="square" lIns="102108" tIns="68072" rIns="102108" bIns="68072" rtlCol="0" anchor="ctr">
            <a:spAutoFit/>
          </a:bodyPr>
          <a:lstStyle/>
          <a:p>
            <a:pPr algn="ctr" indent="0" marL="0">
              <a:lnSpc>
                <a:spcPts val="1200"/>
              </a:lnSpc>
              <a:buNone/>
            </a:pPr>
            <a:r>
              <a:rPr lang="en-US" sz="885" b="1" dirty="0">
                <a:solidFill>
                  <a:srgbClr val="FF5722"/>
                </a:solidFill>
              </a:rPr>
              <a:t>0.9862</a:t>
            </a:r>
            <a:endParaRPr lang="en-US" sz="885" dirty="0"/>
          </a:p>
        </p:txBody>
      </p:sp>
      <p:sp>
        <p:nvSpPr>
          <p:cNvPr id="20" name="Text 17"/>
          <p:cNvSpPr/>
          <p:nvPr/>
        </p:nvSpPr>
        <p:spPr>
          <a:xfrm>
            <a:off x="6974616" y="2087705"/>
            <a:ext cx="1740759" cy="273248"/>
          </a:xfrm>
          <a:prstGeom prst="rect">
            <a:avLst/>
          </a:prstGeom>
          <a:noFill/>
          <a:ln/>
        </p:spPr>
        <p:txBody>
          <a:bodyPr wrap="square" lIns="102108" tIns="68072" rIns="102108" bIns="68072" rtlCol="0" anchor="ctr">
            <a:spAutoFit/>
          </a:bodyPr>
          <a:lstStyle/>
          <a:p>
            <a:pPr algn="ctr" indent="0" marL="0">
              <a:lnSpc>
                <a:spcPts val="1200"/>
              </a:lnSpc>
              <a:buNone/>
            </a:pPr>
            <a:r>
              <a:rPr lang="en-US" sz="885" b="1" dirty="0">
                <a:solidFill>
                  <a:srgbClr val="FF5722"/>
                </a:solidFill>
              </a:rPr>
              <a:t>0.9895</a:t>
            </a:r>
            <a:endParaRPr lang="en-US" sz="885" dirty="0"/>
          </a:p>
        </p:txBody>
      </p:sp>
      <p:sp>
        <p:nvSpPr>
          <p:cNvPr id="21" name="Text 18"/>
          <p:cNvSpPr/>
          <p:nvPr/>
        </p:nvSpPr>
        <p:spPr>
          <a:xfrm>
            <a:off x="428625" y="2360954"/>
            <a:ext cx="1314450" cy="276820"/>
          </a:xfrm>
          <a:prstGeom prst="rect">
            <a:avLst/>
          </a:prstGeom>
          <a:noFill/>
          <a:ln/>
        </p:spPr>
        <p:txBody>
          <a:bodyPr wrap="square" lIns="102108" tIns="68072" rIns="102108" bIns="68072" rtlCol="0" anchor="ctr">
            <a:spAutoFit/>
          </a:bodyPr>
          <a:lstStyle/>
          <a:p>
            <a:pPr algn="l" indent="0" marL="0">
              <a:lnSpc>
                <a:spcPts val="1100"/>
              </a:lnSpc>
              <a:buNone/>
            </a:pPr>
            <a:r>
              <a:rPr lang="en-US" sz="784" b="1" dirty="0">
                <a:solidFill>
                  <a:srgbClr val="1A237E"/>
                </a:solidFill>
              </a:rPr>
              <a:t>XGBoost</a:t>
            </a:r>
            <a:endParaRPr lang="en-US" sz="784" dirty="0"/>
          </a:p>
        </p:txBody>
      </p:sp>
      <p:sp>
        <p:nvSpPr>
          <p:cNvPr id="22" name="Text 19"/>
          <p:cNvSpPr/>
          <p:nvPr/>
        </p:nvSpPr>
        <p:spPr>
          <a:xfrm>
            <a:off x="1743075" y="2360954"/>
            <a:ext cx="1905009"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0.9882</a:t>
            </a:r>
            <a:endParaRPr lang="en-US" sz="784" dirty="0"/>
          </a:p>
        </p:txBody>
      </p:sp>
      <p:sp>
        <p:nvSpPr>
          <p:cNvPr id="23" name="Text 20"/>
          <p:cNvSpPr/>
          <p:nvPr/>
        </p:nvSpPr>
        <p:spPr>
          <a:xfrm>
            <a:off x="3648084" y="2360954"/>
            <a:ext cx="1868035"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0.9884</a:t>
            </a:r>
            <a:endParaRPr lang="en-US" sz="784" dirty="0"/>
          </a:p>
        </p:txBody>
      </p:sp>
      <p:sp>
        <p:nvSpPr>
          <p:cNvPr id="24" name="Text 21"/>
          <p:cNvSpPr/>
          <p:nvPr/>
        </p:nvSpPr>
        <p:spPr>
          <a:xfrm>
            <a:off x="5516119" y="2360954"/>
            <a:ext cx="1458497"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0.9832</a:t>
            </a:r>
            <a:endParaRPr lang="en-US" sz="784" dirty="0"/>
          </a:p>
        </p:txBody>
      </p:sp>
      <p:sp>
        <p:nvSpPr>
          <p:cNvPr id="25" name="Text 22"/>
          <p:cNvSpPr/>
          <p:nvPr/>
        </p:nvSpPr>
        <p:spPr>
          <a:xfrm>
            <a:off x="6974616" y="2360954"/>
            <a:ext cx="1740759"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0.9858</a:t>
            </a:r>
            <a:endParaRPr lang="en-US" sz="784" dirty="0"/>
          </a:p>
        </p:txBody>
      </p:sp>
      <p:sp>
        <p:nvSpPr>
          <p:cNvPr id="26" name="Text 23"/>
          <p:cNvSpPr/>
          <p:nvPr/>
        </p:nvSpPr>
        <p:spPr>
          <a:xfrm>
            <a:off x="428625" y="2637774"/>
            <a:ext cx="1314450" cy="276820"/>
          </a:xfrm>
          <a:prstGeom prst="rect">
            <a:avLst/>
          </a:prstGeom>
          <a:noFill/>
          <a:ln/>
        </p:spPr>
        <p:txBody>
          <a:bodyPr wrap="square" lIns="102108" tIns="68072" rIns="102108" bIns="68072" rtlCol="0" anchor="ctr">
            <a:spAutoFit/>
          </a:bodyPr>
          <a:lstStyle/>
          <a:p>
            <a:pPr algn="l" indent="0" marL="0">
              <a:lnSpc>
                <a:spcPts val="1100"/>
              </a:lnSpc>
              <a:buNone/>
            </a:pPr>
            <a:r>
              <a:rPr lang="en-US" sz="784" b="1" dirty="0">
                <a:solidFill>
                  <a:srgbClr val="1A237E"/>
                </a:solidFill>
              </a:rPr>
              <a:t>CatBoost</a:t>
            </a:r>
            <a:endParaRPr lang="en-US" sz="784" dirty="0"/>
          </a:p>
        </p:txBody>
      </p:sp>
      <p:sp>
        <p:nvSpPr>
          <p:cNvPr id="27" name="Text 24"/>
          <p:cNvSpPr/>
          <p:nvPr/>
        </p:nvSpPr>
        <p:spPr>
          <a:xfrm>
            <a:off x="1743075" y="2637774"/>
            <a:ext cx="1905009"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0.9864</a:t>
            </a:r>
            <a:endParaRPr lang="en-US" sz="784" dirty="0"/>
          </a:p>
        </p:txBody>
      </p:sp>
      <p:sp>
        <p:nvSpPr>
          <p:cNvPr id="28" name="Text 25"/>
          <p:cNvSpPr/>
          <p:nvPr/>
        </p:nvSpPr>
        <p:spPr>
          <a:xfrm>
            <a:off x="3648084" y="2637774"/>
            <a:ext cx="1868035"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0.9857</a:t>
            </a:r>
            <a:endParaRPr lang="en-US" sz="784" dirty="0"/>
          </a:p>
        </p:txBody>
      </p:sp>
      <p:sp>
        <p:nvSpPr>
          <p:cNvPr id="29" name="Text 26"/>
          <p:cNvSpPr/>
          <p:nvPr/>
        </p:nvSpPr>
        <p:spPr>
          <a:xfrm>
            <a:off x="5516119" y="2637774"/>
            <a:ext cx="1458497"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0.9816</a:t>
            </a:r>
            <a:endParaRPr lang="en-US" sz="784" dirty="0"/>
          </a:p>
        </p:txBody>
      </p:sp>
      <p:sp>
        <p:nvSpPr>
          <p:cNvPr id="30" name="Text 27"/>
          <p:cNvSpPr/>
          <p:nvPr/>
        </p:nvSpPr>
        <p:spPr>
          <a:xfrm>
            <a:off x="6974616" y="2637774"/>
            <a:ext cx="1740759"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0.9836</a:t>
            </a:r>
            <a:endParaRPr lang="en-US" sz="784" dirty="0"/>
          </a:p>
        </p:txBody>
      </p:sp>
      <p:sp>
        <p:nvSpPr>
          <p:cNvPr id="31" name="Text 28"/>
          <p:cNvSpPr/>
          <p:nvPr/>
        </p:nvSpPr>
        <p:spPr>
          <a:xfrm>
            <a:off x="428625" y="2914594"/>
            <a:ext cx="1314450" cy="276820"/>
          </a:xfrm>
          <a:prstGeom prst="rect">
            <a:avLst/>
          </a:prstGeom>
          <a:noFill/>
          <a:ln/>
        </p:spPr>
        <p:txBody>
          <a:bodyPr wrap="square" lIns="102108" tIns="68072" rIns="102108" bIns="68072" rtlCol="0" anchor="ctr">
            <a:spAutoFit/>
          </a:bodyPr>
          <a:lstStyle/>
          <a:p>
            <a:pPr algn="l" indent="0" marL="0">
              <a:lnSpc>
                <a:spcPts val="1100"/>
              </a:lnSpc>
              <a:buNone/>
            </a:pPr>
            <a:r>
              <a:rPr lang="en-US" sz="784" b="1" dirty="0">
                <a:solidFill>
                  <a:srgbClr val="1A237E"/>
                </a:solidFill>
              </a:rPr>
              <a:t>Random Forest</a:t>
            </a:r>
            <a:endParaRPr lang="en-US" sz="784" dirty="0"/>
          </a:p>
        </p:txBody>
      </p:sp>
      <p:sp>
        <p:nvSpPr>
          <p:cNvPr id="32" name="Text 29"/>
          <p:cNvSpPr/>
          <p:nvPr/>
        </p:nvSpPr>
        <p:spPr>
          <a:xfrm>
            <a:off x="1743075" y="2914594"/>
            <a:ext cx="1905009"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0.9842</a:t>
            </a:r>
            <a:endParaRPr lang="en-US" sz="784" dirty="0"/>
          </a:p>
        </p:txBody>
      </p:sp>
      <p:sp>
        <p:nvSpPr>
          <p:cNvPr id="33" name="Text 30"/>
          <p:cNvSpPr/>
          <p:nvPr/>
        </p:nvSpPr>
        <p:spPr>
          <a:xfrm>
            <a:off x="3648084" y="2914594"/>
            <a:ext cx="1868035"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0.9882</a:t>
            </a:r>
            <a:endParaRPr lang="en-US" sz="784" dirty="0"/>
          </a:p>
        </p:txBody>
      </p:sp>
      <p:sp>
        <p:nvSpPr>
          <p:cNvPr id="34" name="Text 31"/>
          <p:cNvSpPr/>
          <p:nvPr/>
        </p:nvSpPr>
        <p:spPr>
          <a:xfrm>
            <a:off x="5516119" y="2914594"/>
            <a:ext cx="1458497"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0.9737</a:t>
            </a:r>
            <a:endParaRPr lang="en-US" sz="784" dirty="0"/>
          </a:p>
        </p:txBody>
      </p:sp>
      <p:sp>
        <p:nvSpPr>
          <p:cNvPr id="35" name="Text 32"/>
          <p:cNvSpPr/>
          <p:nvPr/>
        </p:nvSpPr>
        <p:spPr>
          <a:xfrm>
            <a:off x="6974616" y="2914594"/>
            <a:ext cx="1740759" cy="276820"/>
          </a:xfrm>
          <a:prstGeom prst="rect">
            <a:avLst/>
          </a:prstGeom>
          <a:noFill/>
          <a:ln/>
        </p:spPr>
        <p:txBody>
          <a:bodyPr wrap="square" lIns="102108" tIns="68072" rIns="102108" bIns="68072" rtlCol="0" anchor="ctr">
            <a:spAutoFit/>
          </a:bodyPr>
          <a:lstStyle/>
          <a:p>
            <a:pPr algn="ctr" indent="0" marL="0">
              <a:lnSpc>
                <a:spcPts val="1100"/>
              </a:lnSpc>
              <a:buNone/>
            </a:pPr>
            <a:r>
              <a:rPr lang="en-US" sz="784" b="1" dirty="0">
                <a:solidFill>
                  <a:srgbClr val="333333"/>
                </a:solidFill>
              </a:rPr>
              <a:t>0.9809</a:t>
            </a:r>
            <a:endParaRPr lang="en-US" sz="784" dirty="0"/>
          </a:p>
        </p:txBody>
      </p:sp>
      <p:sp>
        <p:nvSpPr>
          <p:cNvPr id="36" name="Text 33"/>
          <p:cNvSpPr/>
          <p:nvPr/>
        </p:nvSpPr>
        <p:spPr>
          <a:xfrm>
            <a:off x="428625" y="3252136"/>
            <a:ext cx="8286750" cy="116086"/>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666666"/>
                </a:solidFill>
              </a:rPr>
              <a:t>* Tüm metrikler Phishing sınıfı için hesaplanmıştır.</a:t>
            </a:r>
            <a:endParaRPr lang="en-US" sz="62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28638"/>
            <a:ext cx="8715375"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En İyi Performans Gösteren Modellerin Karşılaştırması</a:t>
            </a:r>
            <a:endParaRPr lang="en-US" sz="2121" dirty="0"/>
          </a:p>
        </p:txBody>
      </p:sp>
      <p:sp>
        <p:nvSpPr>
          <p:cNvPr id="4" name="Text 1"/>
          <p:cNvSpPr/>
          <p:nvPr/>
        </p:nvSpPr>
        <p:spPr>
          <a:xfrm>
            <a:off x="428625" y="1360159"/>
            <a:ext cx="4071938"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F5722"/>
                </a:solidFill>
              </a:rPr>
              <a:t>Lider Performans</a:t>
            </a:r>
            <a:endParaRPr lang="en-US" sz="683" dirty="0"/>
          </a:p>
        </p:txBody>
      </p:sp>
      <p:sp>
        <p:nvSpPr>
          <p:cNvPr id="5" name="Text 2"/>
          <p:cNvSpPr/>
          <p:nvPr/>
        </p:nvSpPr>
        <p:spPr>
          <a:xfrm>
            <a:off x="428625" y="1538753"/>
            <a:ext cx="4071938"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237E"/>
                </a:solidFill>
              </a:rPr>
              <a:t>LightGBM</a:t>
            </a:r>
            <a:endParaRPr lang="en-US" sz="2436" dirty="0"/>
          </a:p>
        </p:txBody>
      </p:sp>
      <p:sp>
        <p:nvSpPr>
          <p:cNvPr id="6" name="Text 3"/>
          <p:cNvSpPr/>
          <p:nvPr/>
        </p:nvSpPr>
        <p:spPr>
          <a:xfrm>
            <a:off x="428625" y="2147757"/>
            <a:ext cx="934882" cy="233958"/>
          </a:xfrm>
          <a:prstGeom prst="rect">
            <a:avLst/>
          </a:prstGeom>
          <a:noFill/>
          <a:ln/>
        </p:spPr>
        <p:txBody>
          <a:bodyPr wrap="square" lIns="0" tIns="0" rIns="0" bIns="0" rtlCol="0" anchor="t">
            <a:spAutoFit/>
          </a:bodyPr>
          <a:lstStyle/>
          <a:p>
            <a:pPr algn="l" indent="0" marL="0">
              <a:lnSpc>
                <a:spcPts val="1100"/>
              </a:lnSpc>
              <a:buNone/>
            </a:pPr>
            <a:r>
              <a:rPr lang="en-US" sz="834" dirty="0">
                <a:solidFill>
                  <a:srgbClr val="666666"/>
                </a:solidFill>
              </a:rPr>
              <a:t>Doğruluk (Acc)</a:t>
            </a:r>
            <a:endParaRPr lang="en-US" sz="834" dirty="0"/>
          </a:p>
        </p:txBody>
      </p:sp>
      <p:sp>
        <p:nvSpPr>
          <p:cNvPr id="7" name="Text 4"/>
          <p:cNvSpPr/>
          <p:nvPr/>
        </p:nvSpPr>
        <p:spPr>
          <a:xfrm>
            <a:off x="3904924" y="2147757"/>
            <a:ext cx="595638"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rPr>
              <a:t>%99.13</a:t>
            </a:r>
            <a:endParaRPr lang="en-US" sz="1193" dirty="0"/>
          </a:p>
        </p:txBody>
      </p:sp>
      <p:sp>
        <p:nvSpPr>
          <p:cNvPr id="8" name="Text 5"/>
          <p:cNvSpPr/>
          <p:nvPr/>
        </p:nvSpPr>
        <p:spPr>
          <a:xfrm>
            <a:off x="428625" y="2531734"/>
            <a:ext cx="866403" cy="233958"/>
          </a:xfrm>
          <a:prstGeom prst="rect">
            <a:avLst/>
          </a:prstGeom>
          <a:noFill/>
          <a:ln/>
        </p:spPr>
        <p:txBody>
          <a:bodyPr wrap="square" lIns="0" tIns="0" rIns="0" bIns="0" rtlCol="0" anchor="t">
            <a:spAutoFit/>
          </a:bodyPr>
          <a:lstStyle/>
          <a:p>
            <a:pPr algn="l" indent="0" marL="0">
              <a:lnSpc>
                <a:spcPts val="1100"/>
              </a:lnSpc>
              <a:buNone/>
            </a:pPr>
            <a:r>
              <a:rPr lang="en-US" sz="834" dirty="0">
                <a:solidFill>
                  <a:srgbClr val="666666"/>
                </a:solidFill>
              </a:rPr>
              <a:t>Kesinlik (Prec)</a:t>
            </a:r>
            <a:endParaRPr lang="en-US" sz="834" dirty="0"/>
          </a:p>
        </p:txBody>
      </p:sp>
      <p:sp>
        <p:nvSpPr>
          <p:cNvPr id="9" name="Text 6"/>
          <p:cNvSpPr/>
          <p:nvPr/>
        </p:nvSpPr>
        <p:spPr>
          <a:xfrm>
            <a:off x="3904924" y="2531734"/>
            <a:ext cx="595638"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rPr>
              <a:t>%99.28</a:t>
            </a:r>
            <a:endParaRPr lang="en-US" sz="1193" dirty="0"/>
          </a:p>
        </p:txBody>
      </p:sp>
      <p:sp>
        <p:nvSpPr>
          <p:cNvPr id="10" name="Text 7"/>
          <p:cNvSpPr/>
          <p:nvPr/>
        </p:nvSpPr>
        <p:spPr>
          <a:xfrm>
            <a:off x="428625" y="2915710"/>
            <a:ext cx="942194" cy="233958"/>
          </a:xfrm>
          <a:prstGeom prst="rect">
            <a:avLst/>
          </a:prstGeom>
          <a:noFill/>
          <a:ln/>
        </p:spPr>
        <p:txBody>
          <a:bodyPr wrap="square" lIns="0" tIns="0" rIns="0" bIns="0" rtlCol="0" anchor="t">
            <a:spAutoFit/>
          </a:bodyPr>
          <a:lstStyle/>
          <a:p>
            <a:pPr algn="l" indent="0" marL="0">
              <a:lnSpc>
                <a:spcPts val="1100"/>
              </a:lnSpc>
              <a:buNone/>
            </a:pPr>
            <a:r>
              <a:rPr lang="en-US" sz="834" dirty="0">
                <a:solidFill>
                  <a:srgbClr val="666666"/>
                </a:solidFill>
              </a:rPr>
              <a:t>Duyarlılık (Rec)</a:t>
            </a:r>
            <a:endParaRPr lang="en-US" sz="834" dirty="0"/>
          </a:p>
        </p:txBody>
      </p:sp>
      <p:sp>
        <p:nvSpPr>
          <p:cNvPr id="11" name="Text 8"/>
          <p:cNvSpPr/>
          <p:nvPr/>
        </p:nvSpPr>
        <p:spPr>
          <a:xfrm>
            <a:off x="3904924" y="2915710"/>
            <a:ext cx="595638"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rPr>
              <a:t>%98.62</a:t>
            </a:r>
            <a:endParaRPr lang="en-US" sz="1193" dirty="0"/>
          </a:p>
        </p:txBody>
      </p:sp>
      <p:sp>
        <p:nvSpPr>
          <p:cNvPr id="12" name="Shape 9"/>
          <p:cNvSpPr/>
          <p:nvPr/>
        </p:nvSpPr>
        <p:spPr>
          <a:xfrm>
            <a:off x="428625" y="3313974"/>
            <a:ext cx="4071938" cy="462893"/>
          </a:xfrm>
          <a:prstGeom prst="rect">
            <a:avLst/>
          </a:prstGeom>
          <a:solidFill>
            <a:srgbClr val="F5F5F5"/>
          </a:solidFill>
          <a:ln/>
        </p:spPr>
      </p:sp>
      <p:sp>
        <p:nvSpPr>
          <p:cNvPr id="13" name="Text 10"/>
          <p:cNvSpPr/>
          <p:nvPr/>
        </p:nvSpPr>
        <p:spPr>
          <a:xfrm>
            <a:off x="571500" y="3385412"/>
            <a:ext cx="3786188" cy="320018"/>
          </a:xfrm>
          <a:prstGeom prst="rect">
            <a:avLst/>
          </a:prstGeom>
          <a:noFill/>
          <a:ln/>
        </p:spPr>
        <p:txBody>
          <a:bodyPr wrap="square" lIns="0" tIns="0" rIns="0" bIns="0" rtlCol="0" anchor="t">
            <a:spAutoFit/>
          </a:bodyPr>
          <a:lstStyle/>
          <a:p>
            <a:pPr algn="l" indent="0" marL="0">
              <a:lnSpc>
                <a:spcPts val="1300"/>
              </a:lnSpc>
              <a:buNone/>
            </a:pPr>
            <a:r>
              <a:rPr lang="en-US" sz="784" b="1" dirty="0">
                <a:solidFill>
                  <a:srgbClr val="333333"/>
                </a:solidFill>
              </a:rPr>
              <a:t>En yüksek tespit gücü ve anlamsal çıkarım yeteneği ile projenin en başarılı genel performansını sergilemiştir.</a:t>
            </a:r>
            <a:endParaRPr lang="en-US" sz="784" dirty="0"/>
          </a:p>
        </p:txBody>
      </p:sp>
      <p:sp>
        <p:nvSpPr>
          <p:cNvPr id="14" name="Text 11"/>
          <p:cNvSpPr/>
          <p:nvPr/>
        </p:nvSpPr>
        <p:spPr>
          <a:xfrm>
            <a:off x="4643438" y="1360159"/>
            <a:ext cx="4071938"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37E"/>
                </a:solidFill>
              </a:rPr>
              <a:t>Operasyonel Verimlilik</a:t>
            </a:r>
            <a:endParaRPr lang="en-US" sz="683" dirty="0"/>
          </a:p>
        </p:txBody>
      </p:sp>
      <p:sp>
        <p:nvSpPr>
          <p:cNvPr id="15" name="Text 12"/>
          <p:cNvSpPr/>
          <p:nvPr/>
        </p:nvSpPr>
        <p:spPr>
          <a:xfrm>
            <a:off x="4643438" y="1538753"/>
            <a:ext cx="4071938"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237E"/>
                </a:solidFill>
              </a:rPr>
              <a:t>XGBoost</a:t>
            </a:r>
            <a:endParaRPr lang="en-US" sz="2436" dirty="0"/>
          </a:p>
        </p:txBody>
      </p:sp>
      <p:sp>
        <p:nvSpPr>
          <p:cNvPr id="16" name="Text 13"/>
          <p:cNvSpPr/>
          <p:nvPr/>
        </p:nvSpPr>
        <p:spPr>
          <a:xfrm>
            <a:off x="4643438" y="2147757"/>
            <a:ext cx="934882" cy="233958"/>
          </a:xfrm>
          <a:prstGeom prst="rect">
            <a:avLst/>
          </a:prstGeom>
          <a:noFill/>
          <a:ln/>
        </p:spPr>
        <p:txBody>
          <a:bodyPr wrap="square" lIns="0" tIns="0" rIns="0" bIns="0" rtlCol="0" anchor="t">
            <a:spAutoFit/>
          </a:bodyPr>
          <a:lstStyle/>
          <a:p>
            <a:pPr algn="l" indent="0" marL="0">
              <a:lnSpc>
                <a:spcPts val="1100"/>
              </a:lnSpc>
              <a:buNone/>
            </a:pPr>
            <a:r>
              <a:rPr lang="en-US" sz="834" dirty="0">
                <a:solidFill>
                  <a:srgbClr val="666666"/>
                </a:solidFill>
              </a:rPr>
              <a:t>Doğruluk (Acc)</a:t>
            </a:r>
            <a:endParaRPr lang="en-US" sz="834" dirty="0"/>
          </a:p>
        </p:txBody>
      </p:sp>
      <p:sp>
        <p:nvSpPr>
          <p:cNvPr id="17" name="Text 14"/>
          <p:cNvSpPr/>
          <p:nvPr/>
        </p:nvSpPr>
        <p:spPr>
          <a:xfrm>
            <a:off x="8119737" y="2147757"/>
            <a:ext cx="595638"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rPr>
              <a:t>%98.82</a:t>
            </a:r>
            <a:endParaRPr lang="en-US" sz="1193" dirty="0"/>
          </a:p>
        </p:txBody>
      </p:sp>
      <p:sp>
        <p:nvSpPr>
          <p:cNvPr id="18" name="Text 15"/>
          <p:cNvSpPr/>
          <p:nvPr/>
        </p:nvSpPr>
        <p:spPr>
          <a:xfrm>
            <a:off x="4643438" y="2531734"/>
            <a:ext cx="854739" cy="233958"/>
          </a:xfrm>
          <a:prstGeom prst="rect">
            <a:avLst/>
          </a:prstGeom>
          <a:noFill/>
          <a:ln/>
        </p:spPr>
        <p:txBody>
          <a:bodyPr wrap="square" lIns="0" tIns="0" rIns="0" bIns="0" rtlCol="0" anchor="t">
            <a:spAutoFit/>
          </a:bodyPr>
          <a:lstStyle/>
          <a:p>
            <a:pPr algn="l" indent="0" marL="0">
              <a:lnSpc>
                <a:spcPts val="1100"/>
              </a:lnSpc>
              <a:buNone/>
            </a:pPr>
            <a:r>
              <a:rPr lang="en-US" sz="834" dirty="0">
                <a:solidFill>
                  <a:srgbClr val="666666"/>
                </a:solidFill>
              </a:rPr>
              <a:t>Tahmin Süresi</a:t>
            </a:r>
            <a:endParaRPr lang="en-US" sz="834" dirty="0"/>
          </a:p>
        </p:txBody>
      </p:sp>
      <p:sp>
        <p:nvSpPr>
          <p:cNvPr id="19" name="Text 16"/>
          <p:cNvSpPr/>
          <p:nvPr/>
        </p:nvSpPr>
        <p:spPr>
          <a:xfrm>
            <a:off x="8287085" y="2531734"/>
            <a:ext cx="42829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rPr>
              <a:t>1.22s</a:t>
            </a:r>
            <a:endParaRPr lang="en-US" sz="1193" dirty="0"/>
          </a:p>
        </p:txBody>
      </p:sp>
      <p:sp>
        <p:nvSpPr>
          <p:cNvPr id="20" name="Text 17"/>
          <p:cNvSpPr/>
          <p:nvPr/>
        </p:nvSpPr>
        <p:spPr>
          <a:xfrm>
            <a:off x="4643438" y="2915710"/>
            <a:ext cx="803644" cy="233958"/>
          </a:xfrm>
          <a:prstGeom prst="rect">
            <a:avLst/>
          </a:prstGeom>
          <a:noFill/>
          <a:ln/>
        </p:spPr>
        <p:txBody>
          <a:bodyPr wrap="square" lIns="0" tIns="0" rIns="0" bIns="0" rtlCol="0" anchor="t">
            <a:spAutoFit/>
          </a:bodyPr>
          <a:lstStyle/>
          <a:p>
            <a:pPr algn="l" indent="0" marL="0">
              <a:lnSpc>
                <a:spcPts val="1100"/>
              </a:lnSpc>
              <a:buNone/>
            </a:pPr>
            <a:r>
              <a:rPr lang="en-US" sz="834" dirty="0">
                <a:solidFill>
                  <a:srgbClr val="666666"/>
                </a:solidFill>
              </a:rPr>
              <a:t>Eğitim Süresi</a:t>
            </a:r>
            <a:endParaRPr lang="en-US" sz="834" dirty="0"/>
          </a:p>
        </p:txBody>
      </p:sp>
      <p:sp>
        <p:nvSpPr>
          <p:cNvPr id="21" name="Text 18"/>
          <p:cNvSpPr/>
          <p:nvPr/>
        </p:nvSpPr>
        <p:spPr>
          <a:xfrm>
            <a:off x="8335947" y="2915710"/>
            <a:ext cx="379428"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rPr>
              <a:t>375s</a:t>
            </a:r>
            <a:endParaRPr lang="en-US" sz="1193" dirty="0"/>
          </a:p>
        </p:txBody>
      </p:sp>
      <p:sp>
        <p:nvSpPr>
          <p:cNvPr id="22" name="Shape 19"/>
          <p:cNvSpPr/>
          <p:nvPr/>
        </p:nvSpPr>
        <p:spPr>
          <a:xfrm>
            <a:off x="4643438" y="3313974"/>
            <a:ext cx="4071938" cy="462893"/>
          </a:xfrm>
          <a:prstGeom prst="rect">
            <a:avLst/>
          </a:prstGeom>
          <a:solidFill>
            <a:srgbClr val="F5F5F5"/>
          </a:solidFill>
          <a:ln/>
        </p:spPr>
      </p:sp>
      <p:sp>
        <p:nvSpPr>
          <p:cNvPr id="23" name="Text 20"/>
          <p:cNvSpPr/>
          <p:nvPr/>
        </p:nvSpPr>
        <p:spPr>
          <a:xfrm>
            <a:off x="4786313" y="3385412"/>
            <a:ext cx="3786188" cy="320018"/>
          </a:xfrm>
          <a:prstGeom prst="rect">
            <a:avLst/>
          </a:prstGeom>
          <a:noFill/>
          <a:ln/>
        </p:spPr>
        <p:txBody>
          <a:bodyPr wrap="square" lIns="0" tIns="0" rIns="0" bIns="0" rtlCol="0" anchor="t">
            <a:spAutoFit/>
          </a:bodyPr>
          <a:lstStyle/>
          <a:p>
            <a:pPr algn="l" indent="0" marL="0">
              <a:lnSpc>
                <a:spcPts val="1300"/>
              </a:lnSpc>
              <a:buNone/>
            </a:pPr>
            <a:r>
              <a:rPr lang="en-US" sz="784" b="1" dirty="0">
                <a:solidFill>
                  <a:srgbClr val="333333"/>
                </a:solidFill>
              </a:rPr>
              <a:t>Gerçek zamanlı Chrome eklentisi için ideal hız-performans dengesi sunarak uygulama aşamasında tercih edilmiştir.</a:t>
            </a:r>
            <a:endParaRPr lang="en-US" sz="78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734802"/>
            <a:ext cx="5057775"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237E"/>
                </a:solidFill>
              </a:rPr>
              <a:t>Gelecek Çalışmalar: Yol Haritası 2026</a:t>
            </a:r>
            <a:endParaRPr lang="en-US" sz="2121" dirty="0"/>
          </a:p>
        </p:txBody>
      </p:sp>
      <p:sp>
        <p:nvSpPr>
          <p:cNvPr id="4" name="Text 1"/>
          <p:cNvSpPr/>
          <p:nvPr/>
        </p:nvSpPr>
        <p:spPr>
          <a:xfrm>
            <a:off x="614363" y="1787779"/>
            <a:ext cx="48720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237E"/>
                </a:solidFill>
              </a:rPr>
              <a:t>Derin Öğrenme Entegrasyonu</a:t>
            </a:r>
            <a:endParaRPr lang="en-US" sz="987" dirty="0"/>
          </a:p>
        </p:txBody>
      </p:sp>
      <p:sp>
        <p:nvSpPr>
          <p:cNvPr id="5" name="Text 2"/>
          <p:cNvSpPr/>
          <p:nvPr/>
        </p:nvSpPr>
        <p:spPr>
          <a:xfrm>
            <a:off x="614363" y="2096746"/>
            <a:ext cx="4872038" cy="331459"/>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CNN ve Transformer (ViT, ResNet) tabanlı mimarilerin URL analizine dahil edilerek anlamsal çıkarım kapasitesinin artırılması.</a:t>
            </a:r>
            <a:endParaRPr lang="en-US" sz="834" dirty="0"/>
          </a:p>
        </p:txBody>
      </p:sp>
      <p:sp>
        <p:nvSpPr>
          <p:cNvPr id="6" name="Text 3"/>
          <p:cNvSpPr/>
          <p:nvPr/>
        </p:nvSpPr>
        <p:spPr>
          <a:xfrm>
            <a:off x="614363" y="2785393"/>
            <a:ext cx="48720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237E"/>
                </a:solidFill>
              </a:rPr>
              <a:t>Çok Sınıflı Saldırı Tespiti</a:t>
            </a:r>
            <a:endParaRPr lang="en-US" sz="987" dirty="0"/>
          </a:p>
        </p:txBody>
      </p:sp>
      <p:sp>
        <p:nvSpPr>
          <p:cNvPr id="7" name="Text 4"/>
          <p:cNvSpPr/>
          <p:nvPr/>
        </p:nvSpPr>
        <p:spPr>
          <a:xfrm>
            <a:off x="614363" y="3094360"/>
            <a:ext cx="4872038" cy="331459"/>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Sistemin sadece phishing değil; malware ve ransomware gibi farklı saldırı türlerini de ayırt edebilecek bir yapıya kavuşturulması.</a:t>
            </a:r>
            <a:endParaRPr lang="en-US" sz="834" dirty="0"/>
          </a:p>
        </p:txBody>
      </p:sp>
      <p:sp>
        <p:nvSpPr>
          <p:cNvPr id="8" name="Text 5"/>
          <p:cNvSpPr/>
          <p:nvPr/>
        </p:nvSpPr>
        <p:spPr>
          <a:xfrm>
            <a:off x="614363" y="3783006"/>
            <a:ext cx="48720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237E"/>
                </a:solidFill>
              </a:rPr>
              <a:t>Gerçek Zamanlı Aktif Koruma</a:t>
            </a:r>
            <a:endParaRPr lang="en-US" sz="987" dirty="0"/>
          </a:p>
        </p:txBody>
      </p:sp>
      <p:sp>
        <p:nvSpPr>
          <p:cNvPr id="9" name="Text 6"/>
          <p:cNvSpPr/>
          <p:nvPr/>
        </p:nvSpPr>
        <p:spPr>
          <a:xfrm>
            <a:off x="614363" y="4091973"/>
            <a:ext cx="4872038" cy="331459"/>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333333"/>
                </a:solidFill>
              </a:rPr>
              <a:t>100ms'nin altında gecikme süresiyle çalışan, sürekli öğrenen ve kullanıcıyı web tabanlı tehditlere karşı aktif koruyan bir katman.</a:t>
            </a:r>
            <a:endParaRPr lang="en-US" sz="834" dirty="0"/>
          </a:p>
        </p:txBody>
      </p:sp>
      <p:sp>
        <p:nvSpPr>
          <p:cNvPr id="10" name="Shape 7"/>
          <p:cNvSpPr/>
          <p:nvPr/>
        </p:nvSpPr>
        <p:spPr>
          <a:xfrm>
            <a:off x="5772150" y="0"/>
            <a:ext cx="3371850" cy="5143500"/>
          </a:xfrm>
          <a:prstGeom prst="rect">
            <a:avLst/>
          </a:prstGeom>
          <a:solidFill>
            <a:srgbClr val="1A237E"/>
          </a:solidFill>
          <a:ln/>
        </p:spPr>
      </p:sp>
      <p:sp>
        <p:nvSpPr>
          <p:cNvPr id="11" name="Shape 8"/>
          <p:cNvSpPr/>
          <p:nvPr/>
        </p:nvSpPr>
        <p:spPr>
          <a:xfrm>
            <a:off x="6029325" y="571500"/>
            <a:ext cx="2857500" cy="1857375"/>
          </a:xfrm>
          <a:prstGeom prst="rect">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6143625" y="685800"/>
            <a:ext cx="2628900" cy="1628775"/>
          </a:xfrm>
          <a:prstGeom prst="rect">
            <a:avLst/>
          </a:prstGeom>
        </p:spPr>
      </p:pic>
      <p:sp>
        <p:nvSpPr>
          <p:cNvPr id="13" name="Text 9"/>
          <p:cNvSpPr/>
          <p:nvPr/>
        </p:nvSpPr>
        <p:spPr>
          <a:xfrm>
            <a:off x="6540215" y="2543175"/>
            <a:ext cx="1835693" cy="135731"/>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FFFFF"/>
                </a:solidFill>
              </a:rPr>
              <a:t>Güvenlik Katmanı Vizyonu</a:t>
            </a:r>
            <a:endParaRPr lang="en-US" sz="68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2026-01-12T15:13:12Z</dcterms:created>
  <dcterms:modified xsi:type="dcterms:W3CDTF">2026-01-12T15:13:12Z</dcterms:modified>
</cp:coreProperties>
</file>